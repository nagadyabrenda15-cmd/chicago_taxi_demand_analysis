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2" r:id="rId7"/>
    <p:sldId id="263" r:id="rId8"/>
    <p:sldId id="264"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858" autoAdjust="0"/>
  </p:normalViewPr>
  <p:slideViewPr>
    <p:cSldViewPr snapToGrid="0" snapToObjects="1">
      <p:cViewPr>
        <p:scale>
          <a:sx n="100" d="100"/>
          <a:sy n="100" d="100"/>
        </p:scale>
        <p:origin x="0" y="-10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602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3.png"/><Relationship Id="rId4" Type="http://schemas.openxmlformats.org/officeDocument/2006/relationships/image" Target="../media/image13.jp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503920" y="-2377440"/>
            <a:ext cx="6035040" cy="6035040"/>
          </a:xfrm>
          <a:prstGeom prst="ellipse">
            <a:avLst/>
          </a:prstGeom>
          <a:solidFill>
            <a:srgbClr val="141A45"/>
          </a:solidFill>
          <a:ln/>
        </p:spPr>
        <p:txBody>
          <a:bodyPr/>
          <a:lstStyle/>
          <a:p>
            <a:endParaRPr lang="en-US"/>
          </a:p>
        </p:txBody>
      </p:sp>
      <p:sp>
        <p:nvSpPr>
          <p:cNvPr id="3" name="Shape 1"/>
          <p:cNvSpPr/>
          <p:nvPr/>
        </p:nvSpPr>
        <p:spPr>
          <a:xfrm>
            <a:off x="9829800" y="-1097280"/>
            <a:ext cx="3566160" cy="3566160"/>
          </a:xfrm>
          <a:prstGeom prst="ellipse">
            <a:avLst/>
          </a:prstGeom>
          <a:solidFill>
            <a:srgbClr val="24316E"/>
          </a:solidFill>
          <a:ln/>
        </p:spPr>
        <p:txBody>
          <a:bodyPr/>
          <a:lstStyle/>
          <a:p>
            <a:endParaRPr lang="en-US"/>
          </a:p>
        </p:txBody>
      </p:sp>
      <p:sp>
        <p:nvSpPr>
          <p:cNvPr id="4" name="Shape 2"/>
          <p:cNvSpPr/>
          <p:nvPr/>
        </p:nvSpPr>
        <p:spPr>
          <a:xfrm>
            <a:off x="-2194560" y="4572000"/>
            <a:ext cx="4937760" cy="4937760"/>
          </a:xfrm>
          <a:prstGeom prst="ellipse">
            <a:avLst/>
          </a:prstGeom>
          <a:solidFill>
            <a:srgbClr val="141A45"/>
          </a:solidFill>
          <a:ln/>
        </p:spPr>
        <p:txBody>
          <a:bodyPr/>
          <a:lstStyle/>
          <a:p>
            <a:endParaRPr lang="en-US"/>
          </a:p>
        </p:txBody>
      </p:sp>
      <p:sp>
        <p:nvSpPr>
          <p:cNvPr id="5" name="Shape 3"/>
          <p:cNvSpPr/>
          <p:nvPr/>
        </p:nvSpPr>
        <p:spPr>
          <a:xfrm>
            <a:off x="9944100" y="68580"/>
            <a:ext cx="1417320" cy="1417320"/>
          </a:xfrm>
          <a:prstGeom prst="ellipse">
            <a:avLst/>
          </a:prstGeom>
          <a:solidFill>
            <a:srgbClr val="24316E"/>
          </a:solidFill>
          <a:ln/>
        </p:spPr>
        <p:txBody>
          <a:bodyPr/>
          <a:lstStyle/>
          <a:p>
            <a:endParaRPr lang="en-US"/>
          </a:p>
        </p:txBody>
      </p:sp>
      <p:pic>
        <p:nvPicPr>
          <p:cNvPr id="6" name="Image 0" descr="icon_car_w.png"/>
          <p:cNvPicPr>
            <a:picLocks noChangeAspect="1"/>
          </p:cNvPicPr>
          <p:nvPr/>
        </p:nvPicPr>
        <p:blipFill>
          <a:blip r:embed="rId3"/>
          <a:stretch>
            <a:fillRect/>
          </a:stretch>
        </p:blipFill>
        <p:spPr>
          <a:xfrm>
            <a:off x="10284257" y="408737"/>
            <a:ext cx="737006" cy="737006"/>
          </a:xfrm>
          <a:prstGeom prst="rect">
            <a:avLst/>
          </a:prstGeom>
        </p:spPr>
      </p:pic>
      <p:sp>
        <p:nvSpPr>
          <p:cNvPr id="7" name="Text 4"/>
          <p:cNvSpPr txBox="1"/>
          <p:nvPr/>
        </p:nvSpPr>
        <p:spPr>
          <a:xfrm>
            <a:off x="822960" y="1417320"/>
            <a:ext cx="8686800" cy="365760"/>
          </a:xfrm>
          <a:prstGeom prst="rect">
            <a:avLst/>
          </a:prstGeom>
          <a:noFill/>
          <a:ln/>
        </p:spPr>
        <p:txBody>
          <a:bodyPr wrap="square" lIns="0" tIns="0" rIns="0" bIns="0" rtlCol="0" anchor="ctr"/>
          <a:lstStyle/>
          <a:p>
            <a:pPr marL="0" indent="0">
              <a:buNone/>
            </a:pPr>
            <a:r>
              <a:rPr lang="en-US" sz="1350" b="1" kern="0" spc="300" dirty="0">
                <a:solidFill>
                  <a:srgbClr val="F5A623"/>
                </a:solidFill>
                <a:latin typeface="Calibri" pitchFamily="34" charset="0"/>
                <a:ea typeface="Calibri" pitchFamily="34" charset="-122"/>
                <a:cs typeface="Calibri" pitchFamily="34" charset="-120"/>
              </a:rPr>
              <a:t>CHICAGO TAXI POWER BI PROJECT</a:t>
            </a:r>
            <a:endParaRPr lang="en-US" sz="1350" dirty="0"/>
          </a:p>
        </p:txBody>
      </p:sp>
      <p:sp>
        <p:nvSpPr>
          <p:cNvPr id="8" name="Text 5"/>
          <p:cNvSpPr txBox="1"/>
          <p:nvPr/>
        </p:nvSpPr>
        <p:spPr>
          <a:xfrm>
            <a:off x="777240" y="1874520"/>
            <a:ext cx="9326880" cy="1737360"/>
          </a:xfrm>
          <a:prstGeom prst="rect">
            <a:avLst/>
          </a:prstGeom>
          <a:noFill/>
          <a:ln/>
        </p:spPr>
        <p:txBody>
          <a:bodyPr wrap="square" lIns="0" tIns="0" rIns="0" bIns="0" rtlCol="0" anchor="ctr"/>
          <a:lstStyle/>
          <a:p>
            <a:pPr marL="0" indent="0">
              <a:lnSpc>
                <a:spcPct val="106000"/>
              </a:lnSpc>
              <a:buNone/>
            </a:pPr>
            <a:r>
              <a:rPr lang="en-US" sz="4300" b="1" dirty="0">
                <a:solidFill>
                  <a:srgbClr val="FFFFFF"/>
                </a:solidFill>
                <a:latin typeface="Cambria" pitchFamily="34" charset="0"/>
                <a:ea typeface="Cambria" pitchFamily="34" charset="-122"/>
                <a:cs typeface="Cambria" pitchFamily="34" charset="-120"/>
              </a:rPr>
              <a:t>Chicago Taxi Demand &amp;</a:t>
            </a:r>
            <a:endParaRPr lang="en-US" sz="4300" dirty="0"/>
          </a:p>
          <a:p>
            <a:pPr marL="0" indent="0">
              <a:lnSpc>
                <a:spcPct val="106000"/>
              </a:lnSpc>
              <a:buNone/>
            </a:pPr>
            <a:r>
              <a:rPr lang="en-US" sz="4300" b="1" dirty="0">
                <a:solidFill>
                  <a:srgbClr val="FFFFFF"/>
                </a:solidFill>
                <a:latin typeface="Cambria" pitchFamily="34" charset="0"/>
                <a:ea typeface="Cambria" pitchFamily="34" charset="-122"/>
                <a:cs typeface="Cambria" pitchFamily="34" charset="-120"/>
              </a:rPr>
              <a:t>Financial Analysis</a:t>
            </a:r>
            <a:endParaRPr lang="en-US" sz="4300" dirty="0"/>
          </a:p>
        </p:txBody>
      </p:sp>
      <p:sp>
        <p:nvSpPr>
          <p:cNvPr id="9" name="Text 6"/>
          <p:cNvSpPr txBox="1"/>
          <p:nvPr/>
        </p:nvSpPr>
        <p:spPr>
          <a:xfrm>
            <a:off x="822960" y="3657600"/>
            <a:ext cx="8412480" cy="822960"/>
          </a:xfrm>
          <a:prstGeom prst="rect">
            <a:avLst/>
          </a:prstGeom>
          <a:noFill/>
          <a:ln/>
        </p:spPr>
        <p:txBody>
          <a:bodyPr wrap="square" lIns="0" tIns="0" rIns="0" bIns="0" rtlCol="0" anchor="ctr"/>
          <a:lstStyle/>
          <a:p>
            <a:pPr marL="0" indent="0">
              <a:lnSpc>
                <a:spcPct val="125000"/>
              </a:lnSpc>
              <a:buNone/>
            </a:pPr>
            <a:r>
              <a:rPr lang="en-US" sz="1500" i="1" dirty="0">
                <a:solidFill>
                  <a:srgbClr val="CADCFC"/>
                </a:solidFill>
                <a:latin typeface="Calibri" pitchFamily="34" charset="0"/>
                <a:ea typeface="Calibri" pitchFamily="34" charset="-122"/>
                <a:cs typeface="Calibri" pitchFamily="34" charset="-120"/>
              </a:rPr>
              <a:t>Turning 267,884 validated trip records into operational intelligence for</a:t>
            </a:r>
            <a:endParaRPr lang="en-US" sz="1500" dirty="0"/>
          </a:p>
          <a:p>
            <a:pPr marL="0" indent="0">
              <a:lnSpc>
                <a:spcPct val="125000"/>
              </a:lnSpc>
              <a:buNone/>
            </a:pPr>
            <a:r>
              <a:rPr lang="en-US" sz="1500" i="1" dirty="0">
                <a:solidFill>
                  <a:srgbClr val="CADCFC"/>
                </a:solidFill>
                <a:latin typeface="Calibri" pitchFamily="34" charset="0"/>
                <a:ea typeface="Calibri" pitchFamily="34" charset="-122"/>
                <a:cs typeface="Calibri" pitchFamily="34" charset="-120"/>
              </a:rPr>
              <a:t>staffing, fleet staging, payments, and market oversight.</a:t>
            </a:r>
            <a:endParaRPr lang="en-US" sz="1500" dirty="0"/>
          </a:p>
        </p:txBody>
      </p:sp>
      <p:sp>
        <p:nvSpPr>
          <p:cNvPr id="10" name="Shape 7"/>
          <p:cNvSpPr/>
          <p:nvPr/>
        </p:nvSpPr>
        <p:spPr>
          <a:xfrm>
            <a:off x="822960" y="4892040"/>
            <a:ext cx="2194560" cy="0"/>
          </a:xfrm>
          <a:prstGeom prst="line">
            <a:avLst/>
          </a:prstGeom>
          <a:noFill/>
          <a:ln w="28575">
            <a:solidFill>
              <a:srgbClr val="F5A623"/>
            </a:solidFill>
            <a:prstDash val="solid"/>
          </a:ln>
        </p:spPr>
        <p:txBody>
          <a:bodyPr/>
          <a:lstStyle/>
          <a:p>
            <a:endParaRPr lang="en-US"/>
          </a:p>
        </p:txBody>
      </p:sp>
      <p:sp>
        <p:nvSpPr>
          <p:cNvPr id="11" name="Text 8"/>
          <p:cNvSpPr txBox="1"/>
          <p:nvPr/>
        </p:nvSpPr>
        <p:spPr>
          <a:xfrm>
            <a:off x="822960" y="5989320"/>
            <a:ext cx="548640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SOS ALPHA SQUAD 4</a:t>
            </a:r>
            <a:endParaRPr lang="en-US" sz="1300" dirty="0"/>
          </a:p>
        </p:txBody>
      </p:sp>
      <p:sp>
        <p:nvSpPr>
          <p:cNvPr id="12" name="Text 9"/>
          <p:cNvSpPr txBox="1"/>
          <p:nvPr/>
        </p:nvSpPr>
        <p:spPr>
          <a:xfrm>
            <a:off x="822960" y="6291072"/>
            <a:ext cx="6400800"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Final Presentation  |  Power BI Business Intelligence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292608"/>
          </a:xfrm>
          <a:prstGeom prst="rect">
            <a:avLst/>
          </a:prstGeom>
          <a:noFill/>
          <a:ln/>
        </p:spPr>
        <p:txBody>
          <a:bodyPr wrap="square" lIns="0" tIns="0" rIns="0" bIns="0" rtlCol="0" anchor="ctr"/>
          <a:lstStyle/>
          <a:p>
            <a:pPr marL="0" indent="0">
              <a:buNone/>
            </a:pPr>
            <a:r>
              <a:rPr lang="en-US" sz="1250" b="1" kern="0" spc="200" dirty="0">
                <a:solidFill>
                  <a:srgbClr val="C97F0E"/>
                </a:solidFill>
                <a:latin typeface="Calibri" pitchFamily="34" charset="0"/>
                <a:ea typeface="Calibri" pitchFamily="34" charset="-122"/>
                <a:cs typeface="Calibri" pitchFamily="34" charset="-120"/>
              </a:rPr>
              <a:t>01  THE BUSINESS PROBLEM</a:t>
            </a:r>
            <a:endParaRPr lang="en-US" sz="1250" dirty="0"/>
          </a:p>
        </p:txBody>
      </p:sp>
      <p:sp>
        <p:nvSpPr>
          <p:cNvPr id="3" name="Text 1"/>
          <p:cNvSpPr txBox="1"/>
          <p:nvPr/>
        </p:nvSpPr>
        <p:spPr>
          <a:xfrm>
            <a:off x="548640" y="694944"/>
            <a:ext cx="10789920" cy="566928"/>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A Transportation Network Nobody Could Fully See</a:t>
            </a:r>
            <a:endParaRPr lang="en-US" sz="2900" dirty="0"/>
          </a:p>
        </p:txBody>
      </p:sp>
      <p:sp>
        <p:nvSpPr>
          <p:cNvPr id="4" name="Text 2"/>
          <p:cNvSpPr txBox="1"/>
          <p:nvPr/>
        </p:nvSpPr>
        <p:spPr>
          <a:xfrm>
            <a:off x="548640" y="1225296"/>
            <a:ext cx="10789920" cy="329184"/>
          </a:xfrm>
          <a:prstGeom prst="rect">
            <a:avLst/>
          </a:prstGeom>
          <a:noFill/>
          <a:ln/>
        </p:spPr>
        <p:txBody>
          <a:bodyPr wrap="square" lIns="0" tIns="0" rIns="0" bIns="0" rtlCol="0" anchor="ctr"/>
          <a:lstStyle/>
          <a:p>
            <a:pPr marL="0" indent="0">
              <a:buNone/>
            </a:pPr>
            <a:r>
              <a:rPr lang="en-US" sz="1350" i="1" dirty="0">
                <a:solidFill>
                  <a:srgbClr val="667085"/>
                </a:solidFill>
                <a:latin typeface="Calibri" pitchFamily="34" charset="0"/>
                <a:ea typeface="Calibri" pitchFamily="34" charset="-122"/>
                <a:cs typeface="Calibri" pitchFamily="34" charset="-120"/>
              </a:rPr>
              <a:t>267,889 raw trip records existed , but no one could answer basic operational questions from them</a:t>
            </a:r>
            <a:endParaRPr lang="en-US" sz="1350" dirty="0"/>
          </a:p>
        </p:txBody>
      </p:sp>
      <p:sp>
        <p:nvSpPr>
          <p:cNvPr id="5" name="Shape 3"/>
          <p:cNvSpPr/>
          <p:nvPr/>
        </p:nvSpPr>
        <p:spPr>
          <a:xfrm>
            <a:off x="548640" y="1783080"/>
            <a:ext cx="5943600" cy="4160520"/>
          </a:xfrm>
          <a:prstGeom prst="roundRect">
            <a:avLst>
              <a:gd name="adj" fmla="val 1758"/>
            </a:avLst>
          </a:prstGeom>
          <a:solidFill>
            <a:srgbClr val="F7F8FC"/>
          </a:solidFill>
          <a:ln/>
        </p:spPr>
        <p:txBody>
          <a:bodyPr/>
          <a:lstStyle/>
          <a:p>
            <a:endParaRPr lang="en-US"/>
          </a:p>
        </p:txBody>
      </p:sp>
      <p:sp>
        <p:nvSpPr>
          <p:cNvPr id="6" name="Text 4"/>
          <p:cNvSpPr txBox="1"/>
          <p:nvPr/>
        </p:nvSpPr>
        <p:spPr>
          <a:xfrm>
            <a:off x="868680" y="2011680"/>
            <a:ext cx="5303520" cy="274320"/>
          </a:xfrm>
          <a:prstGeom prst="rect">
            <a:avLst/>
          </a:prstGeom>
          <a:noFill/>
          <a:ln/>
        </p:spPr>
        <p:txBody>
          <a:bodyPr wrap="square" lIns="0" tIns="0" rIns="0" bIns="0" rtlCol="0" anchor="ctr"/>
          <a:lstStyle/>
          <a:p>
            <a:pPr marL="0" indent="0">
              <a:buNone/>
            </a:pPr>
            <a:r>
              <a:rPr lang="en-US" sz="1150" b="1" kern="0" spc="150" dirty="0">
                <a:solidFill>
                  <a:srgbClr val="C97F0E"/>
                </a:solidFill>
                <a:latin typeface="Calibri" pitchFamily="34" charset="0"/>
                <a:ea typeface="Calibri" pitchFamily="34" charset="-122"/>
                <a:cs typeface="Calibri" pitchFamily="34" charset="-120"/>
              </a:rPr>
              <a:t>THE GAP</a:t>
            </a:r>
            <a:endParaRPr lang="en-US" sz="1150" dirty="0"/>
          </a:p>
        </p:txBody>
      </p:sp>
      <p:sp>
        <p:nvSpPr>
          <p:cNvPr id="7" name="Text 5"/>
          <p:cNvSpPr txBox="1"/>
          <p:nvPr/>
        </p:nvSpPr>
        <p:spPr>
          <a:xfrm>
            <a:off x="868680" y="2331720"/>
            <a:ext cx="5349240" cy="1234440"/>
          </a:xfrm>
          <a:prstGeom prst="rect">
            <a:avLst/>
          </a:prstGeom>
          <a:noFill/>
          <a:ln/>
        </p:spPr>
        <p:txBody>
          <a:bodyPr wrap="square" lIns="0" tIns="0" rIns="0" bIns="0" rtlCol="0" anchor="ctr"/>
          <a:lstStyle/>
          <a:p>
            <a:pPr marL="0" indent="0">
              <a:lnSpc>
                <a:spcPct val="128000"/>
              </a:lnSpc>
              <a:buNone/>
            </a:pPr>
            <a:r>
              <a:rPr lang="en-US" sz="1350" dirty="0">
                <a:solidFill>
                  <a:srgbClr val="20233A"/>
                </a:solidFill>
                <a:latin typeface="Calibri" pitchFamily="34" charset="0"/>
                <a:ea typeface="Calibri" pitchFamily="34" charset="-122"/>
                <a:cs typeface="Calibri" pitchFamily="34" charset="-120"/>
              </a:rPr>
              <a:t>Chicago taxi planners and fleet operators had thousands of trip logs, but the data lived as flat rows not answers. Nobody could easily see when demand rises, where trips concentrate, how riders pay, or which companies lead the market.</a:t>
            </a:r>
            <a:endParaRPr lang="en-US" sz="1350" dirty="0"/>
          </a:p>
        </p:txBody>
      </p:sp>
      <p:sp>
        <p:nvSpPr>
          <p:cNvPr id="8" name="Text 6"/>
          <p:cNvSpPr txBox="1"/>
          <p:nvPr/>
        </p:nvSpPr>
        <p:spPr>
          <a:xfrm>
            <a:off x="868680" y="3611880"/>
            <a:ext cx="5349240" cy="1051560"/>
          </a:xfrm>
          <a:prstGeom prst="rect">
            <a:avLst/>
          </a:prstGeom>
          <a:noFill/>
          <a:ln/>
        </p:spPr>
        <p:txBody>
          <a:bodyPr wrap="square" lIns="0" tIns="0" rIns="0" bIns="0" rtlCol="0" anchor="ctr"/>
          <a:lstStyle/>
          <a:p>
            <a:pPr marL="0" indent="0">
              <a:lnSpc>
                <a:spcPct val="128000"/>
              </a:lnSpc>
              <a:buNone/>
            </a:pPr>
            <a:r>
              <a:rPr lang="en-US" sz="1350" dirty="0">
                <a:solidFill>
                  <a:srgbClr val="20233A"/>
                </a:solidFill>
                <a:latin typeface="Calibri" pitchFamily="34" charset="0"/>
                <a:ea typeface="Calibri" pitchFamily="34" charset="-122"/>
                <a:cs typeface="Calibri" pitchFamily="34" charset="-120"/>
              </a:rPr>
              <a:t>In a market increasingly squeezed by rideshare competition, that blind spot means idle vehicles at the wrong times, understaffed shifts during real demand peaks, and no consistent benchmark for operator performance.</a:t>
            </a:r>
            <a:endParaRPr lang="en-US" sz="1350" dirty="0"/>
          </a:p>
        </p:txBody>
      </p:sp>
      <p:sp>
        <p:nvSpPr>
          <p:cNvPr id="9" name="Shape 7"/>
          <p:cNvSpPr/>
          <p:nvPr/>
        </p:nvSpPr>
        <p:spPr>
          <a:xfrm>
            <a:off x="868680" y="4754880"/>
            <a:ext cx="5349240" cy="0"/>
          </a:xfrm>
          <a:prstGeom prst="line">
            <a:avLst/>
          </a:prstGeom>
          <a:noFill/>
          <a:ln w="12700">
            <a:solidFill>
              <a:srgbClr val="E3E7F1"/>
            </a:solidFill>
            <a:prstDash val="solid"/>
          </a:ln>
        </p:spPr>
        <p:txBody>
          <a:bodyPr/>
          <a:lstStyle/>
          <a:p>
            <a:endParaRPr lang="en-US"/>
          </a:p>
        </p:txBody>
      </p:sp>
      <p:sp>
        <p:nvSpPr>
          <p:cNvPr id="10" name="Text 8"/>
          <p:cNvSpPr txBox="1"/>
          <p:nvPr/>
        </p:nvSpPr>
        <p:spPr>
          <a:xfrm>
            <a:off x="868680" y="4892040"/>
            <a:ext cx="5303520" cy="256032"/>
          </a:xfrm>
          <a:prstGeom prst="rect">
            <a:avLst/>
          </a:prstGeom>
          <a:noFill/>
          <a:ln/>
        </p:spPr>
        <p:txBody>
          <a:bodyPr wrap="square" lIns="0" tIns="0" rIns="0" bIns="0" rtlCol="0" anchor="ctr"/>
          <a:lstStyle/>
          <a:p>
            <a:pPr marL="0" indent="0">
              <a:buNone/>
            </a:pPr>
            <a:r>
              <a:rPr lang="en-US" sz="1150" b="1" kern="0" spc="150" dirty="0">
                <a:solidFill>
                  <a:srgbClr val="1E2761"/>
                </a:solidFill>
                <a:latin typeface="Calibri" pitchFamily="34" charset="0"/>
                <a:ea typeface="Calibri" pitchFamily="34" charset="-122"/>
                <a:cs typeface="Calibri" pitchFamily="34" charset="-120"/>
              </a:rPr>
              <a:t>OUR OBJECTIVE</a:t>
            </a:r>
            <a:endParaRPr lang="en-US" sz="1150" dirty="0"/>
          </a:p>
        </p:txBody>
      </p:sp>
      <p:sp>
        <p:nvSpPr>
          <p:cNvPr id="11" name="Text 9"/>
          <p:cNvSpPr txBox="1"/>
          <p:nvPr/>
        </p:nvSpPr>
        <p:spPr>
          <a:xfrm>
            <a:off x="868680" y="5193792"/>
            <a:ext cx="5349240" cy="685800"/>
          </a:xfrm>
          <a:prstGeom prst="rect">
            <a:avLst/>
          </a:prstGeom>
          <a:noFill/>
          <a:ln/>
        </p:spPr>
        <p:txBody>
          <a:bodyPr wrap="square" lIns="0" tIns="0" rIns="0" bIns="0" rtlCol="0" anchor="ctr"/>
          <a:lstStyle/>
          <a:p>
            <a:pPr marL="0" indent="0">
              <a:lnSpc>
                <a:spcPct val="125000"/>
              </a:lnSpc>
              <a:buNone/>
            </a:pPr>
            <a:r>
              <a:rPr lang="en-US" sz="1300" b="1" i="1" dirty="0">
                <a:solidFill>
                  <a:srgbClr val="1E2761"/>
                </a:solidFill>
                <a:latin typeface="Calibri" pitchFamily="34" charset="0"/>
                <a:ea typeface="Calibri" pitchFamily="34" charset="-122"/>
                <a:cs typeface="Calibri" pitchFamily="34" charset="-120"/>
              </a:rPr>
              <a:t>Give taxi trip planners and operators one clear, interactive view of when demand rises, where trips move, how riders pay, and which companies lead.</a:t>
            </a:r>
            <a:endParaRPr lang="en-US" sz="1300" b="1" dirty="0"/>
          </a:p>
        </p:txBody>
      </p:sp>
      <p:sp>
        <p:nvSpPr>
          <p:cNvPr id="12" name="Shape 10"/>
          <p:cNvSpPr/>
          <p:nvPr/>
        </p:nvSpPr>
        <p:spPr>
          <a:xfrm>
            <a:off x="6720840" y="1783080"/>
            <a:ext cx="4937760" cy="896112"/>
          </a:xfrm>
          <a:prstGeom prst="roundRect">
            <a:avLst>
              <a:gd name="adj" fmla="val 7143"/>
            </a:avLst>
          </a:prstGeom>
          <a:solidFill>
            <a:srgbClr val="FFFFFF"/>
          </a:solidFill>
          <a:ln w="12700">
            <a:solidFill>
              <a:srgbClr val="E3E7F1"/>
            </a:solidFill>
            <a:prstDash val="solid"/>
          </a:ln>
        </p:spPr>
        <p:txBody>
          <a:bodyPr/>
          <a:lstStyle/>
          <a:p>
            <a:endParaRPr lang="en-US"/>
          </a:p>
        </p:txBody>
      </p:sp>
      <p:sp>
        <p:nvSpPr>
          <p:cNvPr id="13" name="Shape 11"/>
          <p:cNvSpPr/>
          <p:nvPr/>
        </p:nvSpPr>
        <p:spPr>
          <a:xfrm>
            <a:off x="6940296" y="1947672"/>
            <a:ext cx="566928" cy="566928"/>
          </a:xfrm>
          <a:prstGeom prst="ellipse">
            <a:avLst/>
          </a:prstGeom>
          <a:solidFill>
            <a:srgbClr val="1E2761"/>
          </a:solidFill>
          <a:ln/>
        </p:spPr>
        <p:txBody>
          <a:bodyPr/>
          <a:lstStyle/>
          <a:p>
            <a:endParaRPr lang="en-US"/>
          </a:p>
        </p:txBody>
      </p:sp>
      <p:pic>
        <p:nvPicPr>
          <p:cNvPr id="14" name="Image 0" descr="icon_clock_w.png"/>
          <p:cNvPicPr>
            <a:picLocks noChangeAspect="1"/>
          </p:cNvPicPr>
          <p:nvPr/>
        </p:nvPicPr>
        <p:blipFill>
          <a:blip r:embed="rId3"/>
          <a:stretch>
            <a:fillRect/>
          </a:stretch>
        </p:blipFill>
        <p:spPr>
          <a:xfrm>
            <a:off x="7076359" y="2083735"/>
            <a:ext cx="294803" cy="294803"/>
          </a:xfrm>
          <a:prstGeom prst="rect">
            <a:avLst/>
          </a:prstGeom>
        </p:spPr>
      </p:pic>
      <p:sp>
        <p:nvSpPr>
          <p:cNvPr id="15" name="Text 12"/>
          <p:cNvSpPr txBox="1"/>
          <p:nvPr/>
        </p:nvSpPr>
        <p:spPr>
          <a:xfrm>
            <a:off x="7635240" y="1883664"/>
            <a:ext cx="3886200" cy="292608"/>
          </a:xfrm>
          <a:prstGeom prst="rect">
            <a:avLst/>
          </a:prstGeom>
          <a:noFill/>
          <a:ln/>
        </p:spPr>
        <p:txBody>
          <a:bodyPr wrap="square" lIns="0" tIns="0" rIns="0" bIns="0" rtlCol="0" anchor="ctr"/>
          <a:lstStyle/>
          <a:p>
            <a:pPr marL="0" indent="0">
              <a:buNone/>
            </a:pPr>
            <a:r>
              <a:rPr lang="en-US" sz="1350" b="1" dirty="0">
                <a:solidFill>
                  <a:srgbClr val="20233A"/>
                </a:solidFill>
                <a:latin typeface="Calibri" pitchFamily="34" charset="0"/>
                <a:ea typeface="Calibri" pitchFamily="34" charset="-122"/>
                <a:cs typeface="Calibri" pitchFamily="34" charset="-120"/>
              </a:rPr>
              <a:t>No visibility into demand timing</a:t>
            </a:r>
            <a:endParaRPr lang="en-US" sz="1350" dirty="0"/>
          </a:p>
        </p:txBody>
      </p:sp>
      <p:sp>
        <p:nvSpPr>
          <p:cNvPr id="16" name="Text 13"/>
          <p:cNvSpPr txBox="1"/>
          <p:nvPr/>
        </p:nvSpPr>
        <p:spPr>
          <a:xfrm>
            <a:off x="7635240" y="2185416"/>
            <a:ext cx="3886200" cy="45720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Calibri" pitchFamily="34" charset="0"/>
                <a:ea typeface="Calibri" pitchFamily="34" charset="-122"/>
                <a:cs typeface="Calibri" pitchFamily="34" charset="-120"/>
              </a:rPr>
              <a:t>Peaks by hour, day, and shift were invisible in raw rows.</a:t>
            </a:r>
            <a:endParaRPr lang="en-US" sz="1100" dirty="0"/>
          </a:p>
        </p:txBody>
      </p:sp>
      <p:sp>
        <p:nvSpPr>
          <p:cNvPr id="17" name="Shape 14"/>
          <p:cNvSpPr/>
          <p:nvPr/>
        </p:nvSpPr>
        <p:spPr>
          <a:xfrm>
            <a:off x="6720840" y="2807208"/>
            <a:ext cx="4937760" cy="896112"/>
          </a:xfrm>
          <a:prstGeom prst="roundRect">
            <a:avLst>
              <a:gd name="adj" fmla="val 7143"/>
            </a:avLst>
          </a:prstGeom>
          <a:solidFill>
            <a:srgbClr val="FFFFFF"/>
          </a:solidFill>
          <a:ln w="12700">
            <a:solidFill>
              <a:srgbClr val="E3E7F1"/>
            </a:solidFill>
            <a:prstDash val="solid"/>
          </a:ln>
        </p:spPr>
        <p:txBody>
          <a:bodyPr/>
          <a:lstStyle/>
          <a:p>
            <a:endParaRPr lang="en-US"/>
          </a:p>
        </p:txBody>
      </p:sp>
      <p:sp>
        <p:nvSpPr>
          <p:cNvPr id="18" name="Shape 15"/>
          <p:cNvSpPr/>
          <p:nvPr/>
        </p:nvSpPr>
        <p:spPr>
          <a:xfrm>
            <a:off x="6940296" y="2971800"/>
            <a:ext cx="566928" cy="566928"/>
          </a:xfrm>
          <a:prstGeom prst="ellipse">
            <a:avLst/>
          </a:prstGeom>
          <a:solidFill>
            <a:srgbClr val="1E2761"/>
          </a:solidFill>
          <a:ln/>
        </p:spPr>
        <p:txBody>
          <a:bodyPr/>
          <a:lstStyle/>
          <a:p>
            <a:endParaRPr lang="en-US"/>
          </a:p>
        </p:txBody>
      </p:sp>
      <p:pic>
        <p:nvPicPr>
          <p:cNvPr id="19" name="Image 1" descr="icon_mappin_w.png"/>
          <p:cNvPicPr>
            <a:picLocks noChangeAspect="1"/>
          </p:cNvPicPr>
          <p:nvPr/>
        </p:nvPicPr>
        <p:blipFill>
          <a:blip r:embed="rId4"/>
          <a:stretch>
            <a:fillRect/>
          </a:stretch>
        </p:blipFill>
        <p:spPr>
          <a:xfrm>
            <a:off x="7076359" y="3107863"/>
            <a:ext cx="294803" cy="294803"/>
          </a:xfrm>
          <a:prstGeom prst="rect">
            <a:avLst/>
          </a:prstGeom>
        </p:spPr>
      </p:pic>
      <p:sp>
        <p:nvSpPr>
          <p:cNvPr id="20" name="Text 16"/>
          <p:cNvSpPr txBox="1"/>
          <p:nvPr/>
        </p:nvSpPr>
        <p:spPr>
          <a:xfrm>
            <a:off x="7635240" y="2907792"/>
            <a:ext cx="3886200" cy="292608"/>
          </a:xfrm>
          <a:prstGeom prst="rect">
            <a:avLst/>
          </a:prstGeom>
          <a:noFill/>
          <a:ln/>
        </p:spPr>
        <p:txBody>
          <a:bodyPr wrap="square" lIns="0" tIns="0" rIns="0" bIns="0" rtlCol="0" anchor="ctr"/>
          <a:lstStyle/>
          <a:p>
            <a:pPr marL="0" indent="0">
              <a:buNone/>
            </a:pPr>
            <a:r>
              <a:rPr lang="en-US" sz="1350" b="1" dirty="0">
                <a:solidFill>
                  <a:srgbClr val="20233A"/>
                </a:solidFill>
                <a:latin typeface="Calibri" pitchFamily="34" charset="0"/>
                <a:ea typeface="Calibri" pitchFamily="34" charset="-122"/>
                <a:cs typeface="Calibri" pitchFamily="34" charset="-120"/>
              </a:rPr>
              <a:t>No view of high-traffic zones</a:t>
            </a:r>
            <a:endParaRPr lang="en-US" sz="1350" dirty="0"/>
          </a:p>
        </p:txBody>
      </p:sp>
      <p:sp>
        <p:nvSpPr>
          <p:cNvPr id="21" name="Text 17"/>
          <p:cNvSpPr txBox="1"/>
          <p:nvPr/>
        </p:nvSpPr>
        <p:spPr>
          <a:xfrm>
            <a:off x="7635240" y="3209544"/>
            <a:ext cx="3886200" cy="45720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Calibri" pitchFamily="34" charset="0"/>
                <a:ea typeface="Calibri" pitchFamily="34" charset="-122"/>
                <a:cs typeface="Calibri" pitchFamily="34" charset="-120"/>
              </a:rPr>
              <a:t>Pickup and drop-off hot spots weren’t mapped to operations.</a:t>
            </a:r>
            <a:endParaRPr lang="en-US" sz="1100" dirty="0"/>
          </a:p>
        </p:txBody>
      </p:sp>
      <p:sp>
        <p:nvSpPr>
          <p:cNvPr id="22" name="Shape 18"/>
          <p:cNvSpPr/>
          <p:nvPr/>
        </p:nvSpPr>
        <p:spPr>
          <a:xfrm>
            <a:off x="6720840" y="3831336"/>
            <a:ext cx="4937760" cy="896112"/>
          </a:xfrm>
          <a:prstGeom prst="roundRect">
            <a:avLst>
              <a:gd name="adj" fmla="val 7143"/>
            </a:avLst>
          </a:prstGeom>
          <a:solidFill>
            <a:srgbClr val="FFFFFF"/>
          </a:solidFill>
          <a:ln w="12700">
            <a:solidFill>
              <a:srgbClr val="E3E7F1"/>
            </a:solidFill>
            <a:prstDash val="solid"/>
          </a:ln>
        </p:spPr>
        <p:txBody>
          <a:bodyPr/>
          <a:lstStyle/>
          <a:p>
            <a:endParaRPr lang="en-US"/>
          </a:p>
        </p:txBody>
      </p:sp>
      <p:sp>
        <p:nvSpPr>
          <p:cNvPr id="23" name="Shape 19"/>
          <p:cNvSpPr/>
          <p:nvPr/>
        </p:nvSpPr>
        <p:spPr>
          <a:xfrm>
            <a:off x="6940296" y="3995928"/>
            <a:ext cx="566928" cy="566928"/>
          </a:xfrm>
          <a:prstGeom prst="ellipse">
            <a:avLst/>
          </a:prstGeom>
          <a:solidFill>
            <a:srgbClr val="1E2761"/>
          </a:solidFill>
          <a:ln/>
        </p:spPr>
        <p:txBody>
          <a:bodyPr/>
          <a:lstStyle/>
          <a:p>
            <a:endParaRPr lang="en-US"/>
          </a:p>
        </p:txBody>
      </p:sp>
      <p:pic>
        <p:nvPicPr>
          <p:cNvPr id="24" name="Image 2" descr="icon_creditcard_w.png"/>
          <p:cNvPicPr>
            <a:picLocks noChangeAspect="1"/>
          </p:cNvPicPr>
          <p:nvPr/>
        </p:nvPicPr>
        <p:blipFill>
          <a:blip r:embed="rId5"/>
          <a:stretch>
            <a:fillRect/>
          </a:stretch>
        </p:blipFill>
        <p:spPr>
          <a:xfrm>
            <a:off x="7076359" y="4131991"/>
            <a:ext cx="294803" cy="294803"/>
          </a:xfrm>
          <a:prstGeom prst="rect">
            <a:avLst/>
          </a:prstGeom>
        </p:spPr>
      </p:pic>
      <p:sp>
        <p:nvSpPr>
          <p:cNvPr id="25" name="Text 20"/>
          <p:cNvSpPr txBox="1"/>
          <p:nvPr/>
        </p:nvSpPr>
        <p:spPr>
          <a:xfrm>
            <a:off x="7635240" y="3931920"/>
            <a:ext cx="3886200" cy="292608"/>
          </a:xfrm>
          <a:prstGeom prst="rect">
            <a:avLst/>
          </a:prstGeom>
          <a:noFill/>
          <a:ln/>
        </p:spPr>
        <p:txBody>
          <a:bodyPr wrap="square" lIns="0" tIns="0" rIns="0" bIns="0" rtlCol="0" anchor="ctr"/>
          <a:lstStyle/>
          <a:p>
            <a:pPr marL="0" indent="0">
              <a:buNone/>
            </a:pPr>
            <a:r>
              <a:rPr lang="en-US" sz="1350" b="1" dirty="0">
                <a:solidFill>
                  <a:srgbClr val="20233A"/>
                </a:solidFill>
                <a:latin typeface="Calibri" pitchFamily="34" charset="0"/>
                <a:ea typeface="Calibri" pitchFamily="34" charset="-122"/>
                <a:cs typeface="Calibri" pitchFamily="34" charset="-120"/>
              </a:rPr>
              <a:t>Payment &amp; tipping trends unclear</a:t>
            </a:r>
            <a:endParaRPr lang="en-US" sz="1350" dirty="0"/>
          </a:p>
        </p:txBody>
      </p:sp>
      <p:sp>
        <p:nvSpPr>
          <p:cNvPr id="26" name="Text 21"/>
          <p:cNvSpPr txBox="1"/>
          <p:nvPr/>
        </p:nvSpPr>
        <p:spPr>
          <a:xfrm>
            <a:off x="7635240" y="4233672"/>
            <a:ext cx="3886200" cy="45720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Calibri" pitchFamily="34" charset="0"/>
                <a:ea typeface="Calibri" pitchFamily="34" charset="-122"/>
                <a:cs typeface="Calibri" pitchFamily="34" charset="-120"/>
              </a:rPr>
              <a:t>Cash vs. card behavior across fare levels wasn’t compared.</a:t>
            </a:r>
            <a:endParaRPr lang="en-US" sz="1100" dirty="0"/>
          </a:p>
        </p:txBody>
      </p:sp>
      <p:sp>
        <p:nvSpPr>
          <p:cNvPr id="27" name="Shape 22"/>
          <p:cNvSpPr/>
          <p:nvPr/>
        </p:nvSpPr>
        <p:spPr>
          <a:xfrm>
            <a:off x="6720840" y="4855464"/>
            <a:ext cx="4937760" cy="896112"/>
          </a:xfrm>
          <a:prstGeom prst="roundRect">
            <a:avLst>
              <a:gd name="adj" fmla="val 7143"/>
            </a:avLst>
          </a:prstGeom>
          <a:solidFill>
            <a:srgbClr val="FFFFFF"/>
          </a:solidFill>
          <a:ln w="12700">
            <a:solidFill>
              <a:srgbClr val="E3E7F1"/>
            </a:solidFill>
            <a:prstDash val="solid"/>
          </a:ln>
        </p:spPr>
        <p:txBody>
          <a:bodyPr/>
          <a:lstStyle/>
          <a:p>
            <a:endParaRPr lang="en-US"/>
          </a:p>
        </p:txBody>
      </p:sp>
      <p:sp>
        <p:nvSpPr>
          <p:cNvPr id="28" name="Shape 23"/>
          <p:cNvSpPr/>
          <p:nvPr/>
        </p:nvSpPr>
        <p:spPr>
          <a:xfrm>
            <a:off x="6940296" y="5020056"/>
            <a:ext cx="566928" cy="566928"/>
          </a:xfrm>
          <a:prstGeom prst="ellipse">
            <a:avLst/>
          </a:prstGeom>
          <a:solidFill>
            <a:srgbClr val="1E2761"/>
          </a:solidFill>
          <a:ln/>
        </p:spPr>
        <p:txBody>
          <a:bodyPr/>
          <a:lstStyle/>
          <a:p>
            <a:endParaRPr lang="en-US"/>
          </a:p>
        </p:txBody>
      </p:sp>
      <p:pic>
        <p:nvPicPr>
          <p:cNvPr id="29" name="Image 3" descr="icon_trophy_w.png"/>
          <p:cNvPicPr>
            <a:picLocks noChangeAspect="1"/>
          </p:cNvPicPr>
          <p:nvPr/>
        </p:nvPicPr>
        <p:blipFill>
          <a:blip r:embed="rId6"/>
          <a:stretch>
            <a:fillRect/>
          </a:stretch>
        </p:blipFill>
        <p:spPr>
          <a:xfrm>
            <a:off x="7076359" y="5156119"/>
            <a:ext cx="294803" cy="294803"/>
          </a:xfrm>
          <a:prstGeom prst="rect">
            <a:avLst/>
          </a:prstGeom>
        </p:spPr>
      </p:pic>
      <p:sp>
        <p:nvSpPr>
          <p:cNvPr id="30" name="Text 24"/>
          <p:cNvSpPr txBox="1"/>
          <p:nvPr/>
        </p:nvSpPr>
        <p:spPr>
          <a:xfrm>
            <a:off x="7635240" y="4956048"/>
            <a:ext cx="3886200" cy="292608"/>
          </a:xfrm>
          <a:prstGeom prst="rect">
            <a:avLst/>
          </a:prstGeom>
          <a:noFill/>
          <a:ln/>
        </p:spPr>
        <p:txBody>
          <a:bodyPr wrap="square" lIns="0" tIns="0" rIns="0" bIns="0" rtlCol="0" anchor="ctr"/>
          <a:lstStyle/>
          <a:p>
            <a:pPr marL="0" indent="0">
              <a:buNone/>
            </a:pPr>
            <a:r>
              <a:rPr lang="en-US" sz="1350" b="1" dirty="0">
                <a:solidFill>
                  <a:srgbClr val="20233A"/>
                </a:solidFill>
                <a:latin typeface="Calibri" pitchFamily="34" charset="0"/>
                <a:ea typeface="Calibri" pitchFamily="34" charset="-122"/>
                <a:cs typeface="Calibri" pitchFamily="34" charset="-120"/>
              </a:rPr>
              <a:t>No way to benchmark operators</a:t>
            </a:r>
            <a:endParaRPr lang="en-US" sz="1350" dirty="0"/>
          </a:p>
        </p:txBody>
      </p:sp>
      <p:sp>
        <p:nvSpPr>
          <p:cNvPr id="31" name="Text 25"/>
          <p:cNvSpPr txBox="1"/>
          <p:nvPr/>
        </p:nvSpPr>
        <p:spPr>
          <a:xfrm>
            <a:off x="7635240" y="5257800"/>
            <a:ext cx="3886200" cy="45720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Calibri" pitchFamily="34" charset="0"/>
                <a:ea typeface="Calibri" pitchFamily="34" charset="-122"/>
                <a:cs typeface="Calibri" pitchFamily="34" charset="-120"/>
              </a:rPr>
              <a:t>267K trips couldn’t be rolled up by company or fleet.</a:t>
            </a:r>
            <a:endParaRPr lang="en-US" sz="1100" dirty="0"/>
          </a:p>
        </p:txBody>
      </p:sp>
      <p:sp>
        <p:nvSpPr>
          <p:cNvPr id="32" name="Shape 26"/>
          <p:cNvSpPr/>
          <p:nvPr/>
        </p:nvSpPr>
        <p:spPr>
          <a:xfrm>
            <a:off x="548640" y="6473952"/>
            <a:ext cx="11091672" cy="0"/>
          </a:xfrm>
          <a:prstGeom prst="line">
            <a:avLst/>
          </a:prstGeom>
          <a:noFill/>
          <a:ln w="9525">
            <a:solidFill>
              <a:srgbClr val="E3E7F1"/>
            </a:solidFill>
            <a:prstDash val="solid"/>
          </a:ln>
        </p:spPr>
        <p:txBody>
          <a:bodyPr/>
          <a:lstStyle/>
          <a:p>
            <a:endParaRPr lang="en-US"/>
          </a:p>
        </p:txBody>
      </p:sp>
      <p:sp>
        <p:nvSpPr>
          <p:cNvPr id="33" name="Text 27"/>
          <p:cNvSpPr txBox="1"/>
          <p:nvPr/>
        </p:nvSpPr>
        <p:spPr>
          <a:xfrm>
            <a:off x="548640" y="6510528"/>
            <a:ext cx="8686800" cy="274320"/>
          </a:xfrm>
          <a:prstGeom prst="rect">
            <a:avLst/>
          </a:prstGeom>
          <a:noFill/>
          <a:ln/>
        </p:spPr>
        <p:txBody>
          <a:bodyPr wrap="square" lIns="0" tIns="0" rIns="0" bIns="0" rtlCol="0" anchor="ctr"/>
          <a:lstStyle/>
          <a:p>
            <a:pPr marL="0" indent="0">
              <a:buNone/>
            </a:pPr>
            <a:r>
              <a:rPr lang="en-US" sz="850" dirty="0">
                <a:solidFill>
                  <a:srgbClr val="98A2B3"/>
                </a:solidFill>
                <a:latin typeface="Calibri" pitchFamily="34" charset="0"/>
                <a:ea typeface="Calibri" pitchFamily="34" charset="-122"/>
                <a:cs typeface="Calibri" pitchFamily="34" charset="-120"/>
              </a:rPr>
              <a:t>SOS ALPHA SQUAD 4  |  CHICAGO TAXI POWER BI PROJECT</a:t>
            </a:r>
            <a:endParaRPr lang="en-US" sz="850" dirty="0"/>
          </a:p>
        </p:txBody>
      </p:sp>
      <p:sp>
        <p:nvSpPr>
          <p:cNvPr id="34" name="Text 28"/>
          <p:cNvSpPr txBox="1"/>
          <p:nvPr/>
        </p:nvSpPr>
        <p:spPr>
          <a:xfrm>
            <a:off x="11183112" y="6492240"/>
            <a:ext cx="457200" cy="292608"/>
          </a:xfrm>
          <a:prstGeom prst="rect">
            <a:avLst/>
          </a:prstGeom>
          <a:noFill/>
          <a:ln/>
        </p:spPr>
        <p:txBody>
          <a:bodyPr wrap="square" lIns="0" tIns="0" rIns="0" bIns="0" rtlCol="0" anchor="ctr"/>
          <a:lstStyle/>
          <a:p>
            <a:pPr marL="0" indent="0" algn="r">
              <a:buNone/>
            </a:pPr>
            <a:r>
              <a:rPr lang="en-US" sz="1000" b="1" dirty="0">
                <a:solidFill>
                  <a:srgbClr val="1E2761"/>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292608"/>
          </a:xfrm>
          <a:prstGeom prst="rect">
            <a:avLst/>
          </a:prstGeom>
          <a:noFill/>
          <a:ln/>
        </p:spPr>
        <p:txBody>
          <a:bodyPr wrap="square" lIns="0" tIns="0" rIns="0" bIns="0" rtlCol="0" anchor="ctr"/>
          <a:lstStyle/>
          <a:p>
            <a:pPr marL="0" indent="0">
              <a:buNone/>
            </a:pPr>
            <a:r>
              <a:rPr lang="en-US" sz="1250" b="1" kern="0" spc="200" dirty="0">
                <a:solidFill>
                  <a:srgbClr val="C97F0E"/>
                </a:solidFill>
                <a:latin typeface="Calibri" pitchFamily="34" charset="0"/>
                <a:ea typeface="Calibri" pitchFamily="34" charset="-122"/>
                <a:cs typeface="Calibri" pitchFamily="34" charset="-120"/>
              </a:rPr>
              <a:t>02  WHAT WE SET OUT TO ANSWER</a:t>
            </a:r>
            <a:endParaRPr lang="en-US" sz="1250" dirty="0"/>
          </a:p>
        </p:txBody>
      </p:sp>
      <p:sp>
        <p:nvSpPr>
          <p:cNvPr id="3" name="Text 1"/>
          <p:cNvSpPr txBox="1"/>
          <p:nvPr/>
        </p:nvSpPr>
        <p:spPr>
          <a:xfrm>
            <a:off x="548640" y="694944"/>
            <a:ext cx="10789920" cy="566928"/>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Six Business Questions Shaped Every Dashboard</a:t>
            </a:r>
            <a:endParaRPr lang="en-US" sz="2900" dirty="0"/>
          </a:p>
        </p:txBody>
      </p:sp>
      <p:sp>
        <p:nvSpPr>
          <p:cNvPr id="4" name="Text 2"/>
          <p:cNvSpPr txBox="1"/>
          <p:nvPr/>
        </p:nvSpPr>
        <p:spPr>
          <a:xfrm>
            <a:off x="548640" y="1225296"/>
            <a:ext cx="10789920" cy="329184"/>
          </a:xfrm>
          <a:prstGeom prst="rect">
            <a:avLst/>
          </a:prstGeom>
          <a:noFill/>
          <a:ln/>
        </p:spPr>
        <p:txBody>
          <a:bodyPr wrap="square" lIns="0" tIns="0" rIns="0" bIns="0" rtlCol="0" anchor="ctr"/>
          <a:lstStyle/>
          <a:p>
            <a:pPr marL="0" indent="0">
              <a:buNone/>
            </a:pPr>
            <a:r>
              <a:rPr lang="en-US" sz="1350" i="1" dirty="0">
                <a:solidFill>
                  <a:srgbClr val="667085"/>
                </a:solidFill>
                <a:latin typeface="Calibri" pitchFamily="34" charset="0"/>
                <a:ea typeface="Calibri" pitchFamily="34" charset="-122"/>
                <a:cs typeface="Calibri" pitchFamily="34" charset="-120"/>
              </a:rPr>
              <a:t>Each Power BI page was built to answer one operational question decision makers ask</a:t>
            </a:r>
            <a:endParaRPr lang="en-US" sz="1350" dirty="0"/>
          </a:p>
        </p:txBody>
      </p:sp>
      <p:sp>
        <p:nvSpPr>
          <p:cNvPr id="5" name="Shape 3"/>
          <p:cNvSpPr/>
          <p:nvPr/>
        </p:nvSpPr>
        <p:spPr>
          <a:xfrm>
            <a:off x="548640" y="1874520"/>
            <a:ext cx="3657600" cy="1965960"/>
          </a:xfrm>
          <a:prstGeom prst="roundRect">
            <a:avLst>
              <a:gd name="adj" fmla="val 3721"/>
            </a:avLst>
          </a:prstGeom>
          <a:solidFill>
            <a:srgbClr val="F7F8FC"/>
          </a:solidFill>
          <a:ln/>
        </p:spPr>
        <p:txBody>
          <a:bodyPr/>
          <a:lstStyle/>
          <a:p>
            <a:endParaRPr lang="en-US"/>
          </a:p>
        </p:txBody>
      </p:sp>
      <p:sp>
        <p:nvSpPr>
          <p:cNvPr id="6" name="Shape 4"/>
          <p:cNvSpPr/>
          <p:nvPr/>
        </p:nvSpPr>
        <p:spPr>
          <a:xfrm>
            <a:off x="740664" y="2020824"/>
            <a:ext cx="621792" cy="621792"/>
          </a:xfrm>
          <a:prstGeom prst="ellipse">
            <a:avLst/>
          </a:prstGeom>
          <a:solidFill>
            <a:srgbClr val="1E2761"/>
          </a:solidFill>
          <a:ln/>
        </p:spPr>
        <p:txBody>
          <a:bodyPr/>
          <a:lstStyle/>
          <a:p>
            <a:endParaRPr lang="en-US"/>
          </a:p>
        </p:txBody>
      </p:sp>
      <p:pic>
        <p:nvPicPr>
          <p:cNvPr id="7" name="Image 0" descr="icon_target_w.png"/>
          <p:cNvPicPr>
            <a:picLocks noChangeAspect="1"/>
          </p:cNvPicPr>
          <p:nvPr/>
        </p:nvPicPr>
        <p:blipFill>
          <a:blip r:embed="rId3"/>
          <a:stretch>
            <a:fillRect/>
          </a:stretch>
        </p:blipFill>
        <p:spPr>
          <a:xfrm>
            <a:off x="889894" y="2170054"/>
            <a:ext cx="323332" cy="323332"/>
          </a:xfrm>
          <a:prstGeom prst="rect">
            <a:avLst/>
          </a:prstGeom>
        </p:spPr>
      </p:pic>
      <p:sp>
        <p:nvSpPr>
          <p:cNvPr id="8" name="Text 5"/>
          <p:cNvSpPr txBox="1"/>
          <p:nvPr/>
        </p:nvSpPr>
        <p:spPr>
          <a:xfrm>
            <a:off x="822960" y="2715768"/>
            <a:ext cx="3108960" cy="219456"/>
          </a:xfrm>
          <a:prstGeom prst="rect">
            <a:avLst/>
          </a:prstGeom>
          <a:noFill/>
          <a:ln/>
        </p:spPr>
        <p:txBody>
          <a:bodyPr wrap="square" lIns="0" tIns="0" rIns="0" bIns="0" rtlCol="0" anchor="ctr"/>
          <a:lstStyle/>
          <a:p>
            <a:pPr marL="0" indent="0">
              <a:buNone/>
            </a:pPr>
            <a:r>
              <a:rPr lang="en-US" sz="900" b="1" kern="0" spc="120" dirty="0">
                <a:solidFill>
                  <a:srgbClr val="C97F0E"/>
                </a:solidFill>
                <a:latin typeface="Calibri" pitchFamily="34" charset="0"/>
                <a:ea typeface="Calibri" pitchFamily="34" charset="-122"/>
                <a:cs typeface="Calibri" pitchFamily="34" charset="-120"/>
              </a:rPr>
              <a:t>BUSINESS QUESTION</a:t>
            </a:r>
            <a:endParaRPr lang="en-US" sz="900" dirty="0"/>
          </a:p>
        </p:txBody>
      </p:sp>
      <p:sp>
        <p:nvSpPr>
          <p:cNvPr id="9" name="Text 6"/>
          <p:cNvSpPr txBox="1"/>
          <p:nvPr/>
        </p:nvSpPr>
        <p:spPr>
          <a:xfrm>
            <a:off x="822960" y="2916936"/>
            <a:ext cx="3108960" cy="658368"/>
          </a:xfrm>
          <a:prstGeom prst="rect">
            <a:avLst/>
          </a:prstGeom>
          <a:noFill/>
          <a:ln/>
        </p:spPr>
        <p:txBody>
          <a:bodyPr wrap="square" lIns="0" tIns="0" rIns="0" bIns="0" rtlCol="0" anchor="ctr"/>
          <a:lstStyle/>
          <a:p>
            <a:pPr marL="0" indent="0">
              <a:lnSpc>
                <a:spcPct val="115000"/>
              </a:lnSpc>
              <a:buNone/>
            </a:pPr>
            <a:r>
              <a:rPr lang="en-US" sz="1300" b="1" dirty="0">
                <a:solidFill>
                  <a:srgbClr val="20233A"/>
                </a:solidFill>
                <a:latin typeface="Calibri" pitchFamily="34" charset="0"/>
                <a:ea typeface="Calibri" pitchFamily="34" charset="-122"/>
                <a:cs typeface="Calibri" pitchFamily="34" charset="-120"/>
              </a:rPr>
              <a:t>How active and valuable is the taxi network overall?</a:t>
            </a:r>
            <a:endParaRPr lang="en-US" sz="1300" dirty="0"/>
          </a:p>
        </p:txBody>
      </p:sp>
      <p:sp>
        <p:nvSpPr>
          <p:cNvPr id="10" name="Text 7"/>
          <p:cNvSpPr txBox="1"/>
          <p:nvPr/>
        </p:nvSpPr>
        <p:spPr>
          <a:xfrm>
            <a:off x="822960" y="3474720"/>
            <a:ext cx="3108960" cy="274320"/>
          </a:xfrm>
          <a:prstGeom prst="rect">
            <a:avLst/>
          </a:prstGeom>
          <a:noFill/>
          <a:ln/>
        </p:spPr>
        <p:txBody>
          <a:bodyPr wrap="square" lIns="0" tIns="0" rIns="0" bIns="0" rtlCol="0" anchor="ctr"/>
          <a:lstStyle/>
          <a:p>
            <a:pPr marL="0" indent="0">
              <a:buNone/>
            </a:pPr>
            <a:r>
              <a:rPr lang="en-US" sz="1050" i="1" dirty="0">
                <a:solidFill>
                  <a:srgbClr val="1E2761"/>
                </a:solidFill>
                <a:latin typeface="Calibri" pitchFamily="34" charset="0"/>
                <a:ea typeface="Calibri" pitchFamily="34" charset="-122"/>
                <a:cs typeface="Calibri" pitchFamily="34" charset="-120"/>
              </a:rPr>
              <a:t>Fleet Performance Summary</a:t>
            </a:r>
            <a:endParaRPr lang="en-US" sz="1050" dirty="0"/>
          </a:p>
        </p:txBody>
      </p:sp>
      <p:sp>
        <p:nvSpPr>
          <p:cNvPr id="11" name="Shape 8"/>
          <p:cNvSpPr/>
          <p:nvPr/>
        </p:nvSpPr>
        <p:spPr>
          <a:xfrm>
            <a:off x="4370832" y="1874520"/>
            <a:ext cx="3657600" cy="1965960"/>
          </a:xfrm>
          <a:prstGeom prst="roundRect">
            <a:avLst>
              <a:gd name="adj" fmla="val 3721"/>
            </a:avLst>
          </a:prstGeom>
          <a:solidFill>
            <a:srgbClr val="F7F8FC"/>
          </a:solidFill>
          <a:ln/>
        </p:spPr>
        <p:txBody>
          <a:bodyPr/>
          <a:lstStyle/>
          <a:p>
            <a:endParaRPr lang="en-US"/>
          </a:p>
        </p:txBody>
      </p:sp>
      <p:sp>
        <p:nvSpPr>
          <p:cNvPr id="12" name="Shape 9"/>
          <p:cNvSpPr/>
          <p:nvPr/>
        </p:nvSpPr>
        <p:spPr>
          <a:xfrm>
            <a:off x="4562856" y="2020824"/>
            <a:ext cx="621792" cy="621792"/>
          </a:xfrm>
          <a:prstGeom prst="ellipse">
            <a:avLst/>
          </a:prstGeom>
          <a:solidFill>
            <a:srgbClr val="1E2761"/>
          </a:solidFill>
          <a:ln/>
        </p:spPr>
        <p:txBody>
          <a:bodyPr/>
          <a:lstStyle/>
          <a:p>
            <a:endParaRPr lang="en-US"/>
          </a:p>
        </p:txBody>
      </p:sp>
      <p:pic>
        <p:nvPicPr>
          <p:cNvPr id="13" name="Image 1" descr="icon_clock_w.png"/>
          <p:cNvPicPr>
            <a:picLocks noChangeAspect="1"/>
          </p:cNvPicPr>
          <p:nvPr/>
        </p:nvPicPr>
        <p:blipFill>
          <a:blip r:embed="rId4"/>
          <a:stretch>
            <a:fillRect/>
          </a:stretch>
        </p:blipFill>
        <p:spPr>
          <a:xfrm>
            <a:off x="4712086" y="2170054"/>
            <a:ext cx="323332" cy="323332"/>
          </a:xfrm>
          <a:prstGeom prst="rect">
            <a:avLst/>
          </a:prstGeom>
        </p:spPr>
      </p:pic>
      <p:sp>
        <p:nvSpPr>
          <p:cNvPr id="14" name="Text 10"/>
          <p:cNvSpPr txBox="1"/>
          <p:nvPr/>
        </p:nvSpPr>
        <p:spPr>
          <a:xfrm>
            <a:off x="4645152" y="2715768"/>
            <a:ext cx="3108960" cy="219456"/>
          </a:xfrm>
          <a:prstGeom prst="rect">
            <a:avLst/>
          </a:prstGeom>
          <a:noFill/>
          <a:ln/>
        </p:spPr>
        <p:txBody>
          <a:bodyPr wrap="square" lIns="0" tIns="0" rIns="0" bIns="0" rtlCol="0" anchor="ctr"/>
          <a:lstStyle/>
          <a:p>
            <a:pPr marL="0" indent="0">
              <a:buNone/>
            </a:pPr>
            <a:r>
              <a:rPr lang="en-US" sz="900" b="1" kern="0" spc="120" dirty="0">
                <a:solidFill>
                  <a:srgbClr val="C97F0E"/>
                </a:solidFill>
                <a:latin typeface="Calibri" pitchFamily="34" charset="0"/>
                <a:ea typeface="Calibri" pitchFamily="34" charset="-122"/>
                <a:cs typeface="Calibri" pitchFamily="34" charset="-120"/>
              </a:rPr>
              <a:t>BUSINESS QUESTION</a:t>
            </a:r>
            <a:endParaRPr lang="en-US" sz="900" dirty="0"/>
          </a:p>
        </p:txBody>
      </p:sp>
      <p:sp>
        <p:nvSpPr>
          <p:cNvPr id="15" name="Text 11"/>
          <p:cNvSpPr txBox="1"/>
          <p:nvPr/>
        </p:nvSpPr>
        <p:spPr>
          <a:xfrm>
            <a:off x="4645152" y="2916936"/>
            <a:ext cx="3108960" cy="658368"/>
          </a:xfrm>
          <a:prstGeom prst="rect">
            <a:avLst/>
          </a:prstGeom>
          <a:noFill/>
          <a:ln/>
        </p:spPr>
        <p:txBody>
          <a:bodyPr wrap="square" lIns="0" tIns="0" rIns="0" bIns="0" rtlCol="0" anchor="ctr"/>
          <a:lstStyle/>
          <a:p>
            <a:pPr marL="0" indent="0">
              <a:lnSpc>
                <a:spcPct val="115000"/>
              </a:lnSpc>
              <a:buNone/>
            </a:pPr>
            <a:r>
              <a:rPr lang="en-US" sz="1300" b="1" dirty="0">
                <a:solidFill>
                  <a:srgbClr val="20233A"/>
                </a:solidFill>
                <a:latin typeface="Calibri" pitchFamily="34" charset="0"/>
                <a:ea typeface="Calibri" pitchFamily="34" charset="-122"/>
                <a:cs typeface="Calibri" pitchFamily="34" charset="-120"/>
              </a:rPr>
              <a:t>When is demand highest, and how does speed move?</a:t>
            </a:r>
            <a:endParaRPr lang="en-US" sz="1300" dirty="0"/>
          </a:p>
        </p:txBody>
      </p:sp>
      <p:sp>
        <p:nvSpPr>
          <p:cNvPr id="16" name="Text 12"/>
          <p:cNvSpPr txBox="1"/>
          <p:nvPr/>
        </p:nvSpPr>
        <p:spPr>
          <a:xfrm>
            <a:off x="4645152" y="3474720"/>
            <a:ext cx="3108960" cy="274320"/>
          </a:xfrm>
          <a:prstGeom prst="rect">
            <a:avLst/>
          </a:prstGeom>
          <a:noFill/>
          <a:ln/>
        </p:spPr>
        <p:txBody>
          <a:bodyPr wrap="square" lIns="0" tIns="0" rIns="0" bIns="0" rtlCol="0" anchor="ctr"/>
          <a:lstStyle/>
          <a:p>
            <a:pPr marL="0" indent="0">
              <a:buNone/>
            </a:pPr>
            <a:r>
              <a:rPr lang="en-US" sz="1050" i="1" dirty="0">
                <a:solidFill>
                  <a:srgbClr val="1E2761"/>
                </a:solidFill>
                <a:latin typeface="Calibri" pitchFamily="34" charset="0"/>
                <a:ea typeface="Calibri" pitchFamily="34" charset="-122"/>
                <a:cs typeface="Calibri" pitchFamily="34" charset="-120"/>
              </a:rPr>
              <a:t>Time of Day &amp; Congestion</a:t>
            </a:r>
            <a:endParaRPr lang="en-US" sz="1050" dirty="0"/>
          </a:p>
        </p:txBody>
      </p:sp>
      <p:sp>
        <p:nvSpPr>
          <p:cNvPr id="17" name="Shape 13"/>
          <p:cNvSpPr/>
          <p:nvPr/>
        </p:nvSpPr>
        <p:spPr>
          <a:xfrm>
            <a:off x="8193024" y="1874520"/>
            <a:ext cx="3657600" cy="1965960"/>
          </a:xfrm>
          <a:prstGeom prst="roundRect">
            <a:avLst>
              <a:gd name="adj" fmla="val 3721"/>
            </a:avLst>
          </a:prstGeom>
          <a:solidFill>
            <a:srgbClr val="F7F8FC"/>
          </a:solidFill>
          <a:ln/>
        </p:spPr>
        <p:txBody>
          <a:bodyPr/>
          <a:lstStyle/>
          <a:p>
            <a:endParaRPr lang="en-US"/>
          </a:p>
        </p:txBody>
      </p:sp>
      <p:sp>
        <p:nvSpPr>
          <p:cNvPr id="18" name="Shape 14"/>
          <p:cNvSpPr/>
          <p:nvPr/>
        </p:nvSpPr>
        <p:spPr>
          <a:xfrm>
            <a:off x="8385048" y="2020824"/>
            <a:ext cx="621792" cy="621792"/>
          </a:xfrm>
          <a:prstGeom prst="ellipse">
            <a:avLst/>
          </a:prstGeom>
          <a:solidFill>
            <a:srgbClr val="1E2761"/>
          </a:solidFill>
          <a:ln/>
        </p:spPr>
        <p:txBody>
          <a:bodyPr/>
          <a:lstStyle/>
          <a:p>
            <a:endParaRPr lang="en-US"/>
          </a:p>
        </p:txBody>
      </p:sp>
      <p:pic>
        <p:nvPicPr>
          <p:cNvPr id="19" name="Image 2" descr="icon_mappin_w.png"/>
          <p:cNvPicPr>
            <a:picLocks noChangeAspect="1"/>
          </p:cNvPicPr>
          <p:nvPr/>
        </p:nvPicPr>
        <p:blipFill>
          <a:blip r:embed="rId5"/>
          <a:stretch>
            <a:fillRect/>
          </a:stretch>
        </p:blipFill>
        <p:spPr>
          <a:xfrm>
            <a:off x="8534278" y="2170054"/>
            <a:ext cx="323332" cy="323332"/>
          </a:xfrm>
          <a:prstGeom prst="rect">
            <a:avLst/>
          </a:prstGeom>
        </p:spPr>
      </p:pic>
      <p:sp>
        <p:nvSpPr>
          <p:cNvPr id="20" name="Text 15"/>
          <p:cNvSpPr txBox="1"/>
          <p:nvPr/>
        </p:nvSpPr>
        <p:spPr>
          <a:xfrm>
            <a:off x="8467344" y="2715768"/>
            <a:ext cx="3108960" cy="219456"/>
          </a:xfrm>
          <a:prstGeom prst="rect">
            <a:avLst/>
          </a:prstGeom>
          <a:noFill/>
          <a:ln/>
        </p:spPr>
        <p:txBody>
          <a:bodyPr wrap="square" lIns="0" tIns="0" rIns="0" bIns="0" rtlCol="0" anchor="ctr"/>
          <a:lstStyle/>
          <a:p>
            <a:pPr marL="0" indent="0">
              <a:buNone/>
            </a:pPr>
            <a:r>
              <a:rPr lang="en-US" sz="900" b="1" kern="0" spc="120" dirty="0">
                <a:solidFill>
                  <a:srgbClr val="C97F0E"/>
                </a:solidFill>
                <a:latin typeface="Calibri" pitchFamily="34" charset="0"/>
                <a:ea typeface="Calibri" pitchFamily="34" charset="-122"/>
                <a:cs typeface="Calibri" pitchFamily="34" charset="-120"/>
              </a:rPr>
              <a:t>BUSINESS QUESTION</a:t>
            </a:r>
            <a:endParaRPr lang="en-US" sz="900" dirty="0"/>
          </a:p>
        </p:txBody>
      </p:sp>
      <p:sp>
        <p:nvSpPr>
          <p:cNvPr id="21" name="Text 16"/>
          <p:cNvSpPr txBox="1"/>
          <p:nvPr/>
        </p:nvSpPr>
        <p:spPr>
          <a:xfrm>
            <a:off x="8467344" y="2916936"/>
            <a:ext cx="3108960" cy="658368"/>
          </a:xfrm>
          <a:prstGeom prst="rect">
            <a:avLst/>
          </a:prstGeom>
          <a:noFill/>
          <a:ln/>
        </p:spPr>
        <p:txBody>
          <a:bodyPr wrap="square" lIns="0" tIns="0" rIns="0" bIns="0" rtlCol="0" anchor="ctr"/>
          <a:lstStyle/>
          <a:p>
            <a:pPr marL="0" indent="0">
              <a:lnSpc>
                <a:spcPct val="115000"/>
              </a:lnSpc>
              <a:buNone/>
            </a:pPr>
            <a:r>
              <a:rPr lang="en-US" sz="1300" b="1" dirty="0">
                <a:solidFill>
                  <a:srgbClr val="20233A"/>
                </a:solidFill>
                <a:latin typeface="Calibri" pitchFamily="34" charset="0"/>
                <a:ea typeface="Calibri" pitchFamily="34" charset="-122"/>
                <a:cs typeface="Calibri" pitchFamily="34" charset="-120"/>
              </a:rPr>
              <a:t>Which areas attract the most pickups and drop-offs?</a:t>
            </a:r>
            <a:endParaRPr lang="en-US" sz="1300" dirty="0"/>
          </a:p>
        </p:txBody>
      </p:sp>
      <p:sp>
        <p:nvSpPr>
          <p:cNvPr id="22" name="Text 17"/>
          <p:cNvSpPr txBox="1"/>
          <p:nvPr/>
        </p:nvSpPr>
        <p:spPr>
          <a:xfrm>
            <a:off x="8467344" y="3474720"/>
            <a:ext cx="3108960" cy="274320"/>
          </a:xfrm>
          <a:prstGeom prst="rect">
            <a:avLst/>
          </a:prstGeom>
          <a:noFill/>
          <a:ln/>
        </p:spPr>
        <p:txBody>
          <a:bodyPr wrap="square" lIns="0" tIns="0" rIns="0" bIns="0" rtlCol="0" anchor="ctr"/>
          <a:lstStyle/>
          <a:p>
            <a:pPr marL="0" indent="0">
              <a:buNone/>
            </a:pPr>
            <a:r>
              <a:rPr lang="en-US" sz="1050" i="1" dirty="0">
                <a:solidFill>
                  <a:srgbClr val="1E2761"/>
                </a:solidFill>
                <a:latin typeface="Calibri" pitchFamily="34" charset="0"/>
                <a:ea typeface="Calibri" pitchFamily="34" charset="-122"/>
                <a:cs typeface="Calibri" pitchFamily="34" charset="-120"/>
              </a:rPr>
              <a:t>Origin–Destination Flow</a:t>
            </a:r>
            <a:endParaRPr lang="en-US" sz="1050" dirty="0"/>
          </a:p>
        </p:txBody>
      </p:sp>
      <p:sp>
        <p:nvSpPr>
          <p:cNvPr id="23" name="Shape 18"/>
          <p:cNvSpPr/>
          <p:nvPr/>
        </p:nvSpPr>
        <p:spPr>
          <a:xfrm>
            <a:off x="548640" y="4005072"/>
            <a:ext cx="3657600" cy="1965960"/>
          </a:xfrm>
          <a:prstGeom prst="roundRect">
            <a:avLst>
              <a:gd name="adj" fmla="val 3721"/>
            </a:avLst>
          </a:prstGeom>
          <a:solidFill>
            <a:srgbClr val="F7F8FC"/>
          </a:solidFill>
          <a:ln/>
        </p:spPr>
        <p:txBody>
          <a:bodyPr/>
          <a:lstStyle/>
          <a:p>
            <a:endParaRPr lang="en-US"/>
          </a:p>
        </p:txBody>
      </p:sp>
      <p:sp>
        <p:nvSpPr>
          <p:cNvPr id="24" name="Shape 19"/>
          <p:cNvSpPr/>
          <p:nvPr/>
        </p:nvSpPr>
        <p:spPr>
          <a:xfrm>
            <a:off x="740664" y="4151376"/>
            <a:ext cx="621792" cy="621792"/>
          </a:xfrm>
          <a:prstGeom prst="ellipse">
            <a:avLst/>
          </a:prstGeom>
          <a:solidFill>
            <a:srgbClr val="1E2761"/>
          </a:solidFill>
          <a:ln/>
        </p:spPr>
        <p:txBody>
          <a:bodyPr/>
          <a:lstStyle/>
          <a:p>
            <a:endParaRPr lang="en-US"/>
          </a:p>
        </p:txBody>
      </p:sp>
      <p:pic>
        <p:nvPicPr>
          <p:cNvPr id="25" name="Image 3" descr="icon_creditcard_w.png"/>
          <p:cNvPicPr>
            <a:picLocks noChangeAspect="1"/>
          </p:cNvPicPr>
          <p:nvPr/>
        </p:nvPicPr>
        <p:blipFill>
          <a:blip r:embed="rId6"/>
          <a:stretch>
            <a:fillRect/>
          </a:stretch>
        </p:blipFill>
        <p:spPr>
          <a:xfrm>
            <a:off x="889894" y="4300606"/>
            <a:ext cx="323332" cy="323332"/>
          </a:xfrm>
          <a:prstGeom prst="rect">
            <a:avLst/>
          </a:prstGeom>
        </p:spPr>
      </p:pic>
      <p:sp>
        <p:nvSpPr>
          <p:cNvPr id="26" name="Text 20"/>
          <p:cNvSpPr txBox="1"/>
          <p:nvPr/>
        </p:nvSpPr>
        <p:spPr>
          <a:xfrm>
            <a:off x="822960" y="4846320"/>
            <a:ext cx="3108960" cy="219456"/>
          </a:xfrm>
          <a:prstGeom prst="rect">
            <a:avLst/>
          </a:prstGeom>
          <a:noFill/>
          <a:ln/>
        </p:spPr>
        <p:txBody>
          <a:bodyPr wrap="square" lIns="0" tIns="0" rIns="0" bIns="0" rtlCol="0" anchor="ctr"/>
          <a:lstStyle/>
          <a:p>
            <a:pPr marL="0" indent="0">
              <a:buNone/>
            </a:pPr>
            <a:r>
              <a:rPr lang="en-US" sz="900" b="1" kern="0" spc="120" dirty="0">
                <a:solidFill>
                  <a:srgbClr val="C97F0E"/>
                </a:solidFill>
                <a:latin typeface="Calibri" pitchFamily="34" charset="0"/>
                <a:ea typeface="Calibri" pitchFamily="34" charset="-122"/>
                <a:cs typeface="Calibri" pitchFamily="34" charset="-120"/>
              </a:rPr>
              <a:t>BUSINESS QUESTION</a:t>
            </a:r>
            <a:endParaRPr lang="en-US" sz="900" dirty="0"/>
          </a:p>
        </p:txBody>
      </p:sp>
      <p:sp>
        <p:nvSpPr>
          <p:cNvPr id="27" name="Text 21"/>
          <p:cNvSpPr txBox="1"/>
          <p:nvPr/>
        </p:nvSpPr>
        <p:spPr>
          <a:xfrm>
            <a:off x="822960" y="5047488"/>
            <a:ext cx="3108960" cy="658368"/>
          </a:xfrm>
          <a:prstGeom prst="rect">
            <a:avLst/>
          </a:prstGeom>
          <a:noFill/>
          <a:ln/>
        </p:spPr>
        <p:txBody>
          <a:bodyPr wrap="square" lIns="0" tIns="0" rIns="0" bIns="0" rtlCol="0" anchor="ctr"/>
          <a:lstStyle/>
          <a:p>
            <a:pPr marL="0" indent="0">
              <a:lnSpc>
                <a:spcPct val="115000"/>
              </a:lnSpc>
              <a:buNone/>
            </a:pPr>
            <a:r>
              <a:rPr lang="en-US" sz="1300" b="1" dirty="0">
                <a:solidFill>
                  <a:srgbClr val="20233A"/>
                </a:solidFill>
                <a:latin typeface="Calibri" pitchFamily="34" charset="0"/>
                <a:ea typeface="Calibri" pitchFamily="34" charset="-122"/>
                <a:cs typeface="Calibri" pitchFamily="34" charset="-120"/>
              </a:rPr>
              <a:t>How do riders pay, and what tipping shows up?</a:t>
            </a:r>
            <a:endParaRPr lang="en-US" sz="1300" dirty="0"/>
          </a:p>
        </p:txBody>
      </p:sp>
      <p:sp>
        <p:nvSpPr>
          <p:cNvPr id="28" name="Text 22"/>
          <p:cNvSpPr txBox="1"/>
          <p:nvPr/>
        </p:nvSpPr>
        <p:spPr>
          <a:xfrm>
            <a:off x="822960" y="5605272"/>
            <a:ext cx="3108960" cy="274320"/>
          </a:xfrm>
          <a:prstGeom prst="rect">
            <a:avLst/>
          </a:prstGeom>
          <a:noFill/>
          <a:ln/>
        </p:spPr>
        <p:txBody>
          <a:bodyPr wrap="square" lIns="0" tIns="0" rIns="0" bIns="0" rtlCol="0" anchor="ctr"/>
          <a:lstStyle/>
          <a:p>
            <a:pPr marL="0" indent="0">
              <a:buNone/>
            </a:pPr>
            <a:r>
              <a:rPr lang="en-US" sz="1050" i="1" dirty="0">
                <a:solidFill>
                  <a:srgbClr val="1E2761"/>
                </a:solidFill>
                <a:latin typeface="Calibri" pitchFamily="34" charset="0"/>
                <a:ea typeface="Calibri" pitchFamily="34" charset="-122"/>
                <a:cs typeface="Calibri" pitchFamily="34" charset="-120"/>
              </a:rPr>
              <a:t>Payment &amp; Tipping Habits</a:t>
            </a:r>
            <a:endParaRPr lang="en-US" sz="1050" dirty="0"/>
          </a:p>
        </p:txBody>
      </p:sp>
      <p:sp>
        <p:nvSpPr>
          <p:cNvPr id="29" name="Shape 23"/>
          <p:cNvSpPr/>
          <p:nvPr/>
        </p:nvSpPr>
        <p:spPr>
          <a:xfrm>
            <a:off x="4370832" y="4005072"/>
            <a:ext cx="3657600" cy="1965960"/>
          </a:xfrm>
          <a:prstGeom prst="roundRect">
            <a:avLst>
              <a:gd name="adj" fmla="val 3721"/>
            </a:avLst>
          </a:prstGeom>
          <a:solidFill>
            <a:srgbClr val="F7F8FC"/>
          </a:solidFill>
          <a:ln/>
        </p:spPr>
        <p:txBody>
          <a:bodyPr/>
          <a:lstStyle/>
          <a:p>
            <a:endParaRPr lang="en-US"/>
          </a:p>
        </p:txBody>
      </p:sp>
      <p:sp>
        <p:nvSpPr>
          <p:cNvPr id="30" name="Shape 24"/>
          <p:cNvSpPr/>
          <p:nvPr/>
        </p:nvSpPr>
        <p:spPr>
          <a:xfrm>
            <a:off x="4562856" y="4151376"/>
            <a:ext cx="621792" cy="621792"/>
          </a:xfrm>
          <a:prstGeom prst="ellipse">
            <a:avLst/>
          </a:prstGeom>
          <a:solidFill>
            <a:srgbClr val="1E2761"/>
          </a:solidFill>
          <a:ln/>
        </p:spPr>
        <p:txBody>
          <a:bodyPr/>
          <a:lstStyle/>
          <a:p>
            <a:endParaRPr lang="en-US"/>
          </a:p>
        </p:txBody>
      </p:sp>
      <p:pic>
        <p:nvPicPr>
          <p:cNvPr id="31" name="Image 4" descr="icon_trophy_w.png"/>
          <p:cNvPicPr>
            <a:picLocks noChangeAspect="1"/>
          </p:cNvPicPr>
          <p:nvPr/>
        </p:nvPicPr>
        <p:blipFill>
          <a:blip r:embed="rId7"/>
          <a:stretch>
            <a:fillRect/>
          </a:stretch>
        </p:blipFill>
        <p:spPr>
          <a:xfrm>
            <a:off x="4712086" y="4300606"/>
            <a:ext cx="323332" cy="323332"/>
          </a:xfrm>
          <a:prstGeom prst="rect">
            <a:avLst/>
          </a:prstGeom>
        </p:spPr>
      </p:pic>
      <p:sp>
        <p:nvSpPr>
          <p:cNvPr id="32" name="Text 25"/>
          <p:cNvSpPr txBox="1"/>
          <p:nvPr/>
        </p:nvSpPr>
        <p:spPr>
          <a:xfrm>
            <a:off x="4645152" y="4846320"/>
            <a:ext cx="3108960" cy="219456"/>
          </a:xfrm>
          <a:prstGeom prst="rect">
            <a:avLst/>
          </a:prstGeom>
          <a:noFill/>
          <a:ln/>
        </p:spPr>
        <p:txBody>
          <a:bodyPr wrap="square" lIns="0" tIns="0" rIns="0" bIns="0" rtlCol="0" anchor="ctr"/>
          <a:lstStyle/>
          <a:p>
            <a:pPr marL="0" indent="0">
              <a:buNone/>
            </a:pPr>
            <a:r>
              <a:rPr lang="en-US" sz="900" b="1" kern="0" spc="120" dirty="0">
                <a:solidFill>
                  <a:srgbClr val="C97F0E"/>
                </a:solidFill>
                <a:latin typeface="Calibri" pitchFamily="34" charset="0"/>
                <a:ea typeface="Calibri" pitchFamily="34" charset="-122"/>
                <a:cs typeface="Calibri" pitchFamily="34" charset="-120"/>
              </a:rPr>
              <a:t>BUSINESS QUESTION</a:t>
            </a:r>
            <a:endParaRPr lang="en-US" sz="900" dirty="0"/>
          </a:p>
        </p:txBody>
      </p:sp>
      <p:sp>
        <p:nvSpPr>
          <p:cNvPr id="33" name="Text 26"/>
          <p:cNvSpPr txBox="1"/>
          <p:nvPr/>
        </p:nvSpPr>
        <p:spPr>
          <a:xfrm>
            <a:off x="4645152" y="5047488"/>
            <a:ext cx="3108960" cy="658368"/>
          </a:xfrm>
          <a:prstGeom prst="rect">
            <a:avLst/>
          </a:prstGeom>
          <a:noFill/>
          <a:ln/>
        </p:spPr>
        <p:txBody>
          <a:bodyPr wrap="square" lIns="0" tIns="0" rIns="0" bIns="0" rtlCol="0" anchor="ctr"/>
          <a:lstStyle/>
          <a:p>
            <a:pPr marL="0" indent="0">
              <a:lnSpc>
                <a:spcPct val="115000"/>
              </a:lnSpc>
              <a:buNone/>
            </a:pPr>
            <a:r>
              <a:rPr lang="en-US" sz="1300" b="1" dirty="0">
                <a:solidFill>
                  <a:srgbClr val="20233A"/>
                </a:solidFill>
                <a:latin typeface="Calibri" pitchFamily="34" charset="0"/>
                <a:ea typeface="Calibri" pitchFamily="34" charset="-122"/>
                <a:cs typeface="Calibri" pitchFamily="34" charset="-120"/>
              </a:rPr>
              <a:t>Which companies lead, and how do they compare?</a:t>
            </a:r>
            <a:endParaRPr lang="en-US" sz="1300" dirty="0"/>
          </a:p>
        </p:txBody>
      </p:sp>
      <p:sp>
        <p:nvSpPr>
          <p:cNvPr id="34" name="Text 27"/>
          <p:cNvSpPr txBox="1"/>
          <p:nvPr/>
        </p:nvSpPr>
        <p:spPr>
          <a:xfrm>
            <a:off x="4645152" y="5605272"/>
            <a:ext cx="3108960" cy="274320"/>
          </a:xfrm>
          <a:prstGeom prst="rect">
            <a:avLst/>
          </a:prstGeom>
          <a:noFill/>
          <a:ln/>
        </p:spPr>
        <p:txBody>
          <a:bodyPr wrap="square" lIns="0" tIns="0" rIns="0" bIns="0" rtlCol="0" anchor="ctr"/>
          <a:lstStyle/>
          <a:p>
            <a:pPr marL="0" indent="0">
              <a:buNone/>
            </a:pPr>
            <a:r>
              <a:rPr lang="en-US" sz="1050" i="1" dirty="0">
                <a:solidFill>
                  <a:srgbClr val="1E2761"/>
                </a:solidFill>
                <a:latin typeface="Calibri" pitchFamily="34" charset="0"/>
                <a:ea typeface="Calibri" pitchFamily="34" charset="-122"/>
                <a:cs typeface="Calibri" pitchFamily="34" charset="-120"/>
              </a:rPr>
              <a:t>Company &amp; Fleet Comparison</a:t>
            </a:r>
            <a:endParaRPr lang="en-US" sz="1050" dirty="0"/>
          </a:p>
        </p:txBody>
      </p:sp>
      <p:sp>
        <p:nvSpPr>
          <p:cNvPr id="35" name="Shape 28"/>
          <p:cNvSpPr/>
          <p:nvPr/>
        </p:nvSpPr>
        <p:spPr>
          <a:xfrm>
            <a:off x="8193024" y="4005072"/>
            <a:ext cx="3657600" cy="1965960"/>
          </a:xfrm>
          <a:prstGeom prst="roundRect">
            <a:avLst>
              <a:gd name="adj" fmla="val 3721"/>
            </a:avLst>
          </a:prstGeom>
          <a:solidFill>
            <a:srgbClr val="F7F8FC"/>
          </a:solidFill>
          <a:ln/>
        </p:spPr>
        <p:txBody>
          <a:bodyPr/>
          <a:lstStyle/>
          <a:p>
            <a:endParaRPr lang="en-US"/>
          </a:p>
        </p:txBody>
      </p:sp>
      <p:sp>
        <p:nvSpPr>
          <p:cNvPr id="36" name="Shape 29"/>
          <p:cNvSpPr/>
          <p:nvPr/>
        </p:nvSpPr>
        <p:spPr>
          <a:xfrm>
            <a:off x="8385048" y="4151376"/>
            <a:ext cx="621792" cy="621792"/>
          </a:xfrm>
          <a:prstGeom prst="ellipse">
            <a:avLst/>
          </a:prstGeom>
          <a:solidFill>
            <a:srgbClr val="1E2761"/>
          </a:solidFill>
          <a:ln/>
        </p:spPr>
        <p:txBody>
          <a:bodyPr/>
          <a:lstStyle/>
          <a:p>
            <a:endParaRPr lang="en-US"/>
          </a:p>
        </p:txBody>
      </p:sp>
      <p:pic>
        <p:nvPicPr>
          <p:cNvPr id="37" name="Image 5" descr="icon_users_w.png"/>
          <p:cNvPicPr>
            <a:picLocks noChangeAspect="1"/>
          </p:cNvPicPr>
          <p:nvPr/>
        </p:nvPicPr>
        <p:blipFill>
          <a:blip r:embed="rId8"/>
          <a:stretch>
            <a:fillRect/>
          </a:stretch>
        </p:blipFill>
        <p:spPr>
          <a:xfrm>
            <a:off x="8534278" y="4300606"/>
            <a:ext cx="323332" cy="323332"/>
          </a:xfrm>
          <a:prstGeom prst="rect">
            <a:avLst/>
          </a:prstGeom>
        </p:spPr>
      </p:pic>
      <p:sp>
        <p:nvSpPr>
          <p:cNvPr id="38" name="Text 30"/>
          <p:cNvSpPr txBox="1"/>
          <p:nvPr/>
        </p:nvSpPr>
        <p:spPr>
          <a:xfrm>
            <a:off x="8467344" y="4846320"/>
            <a:ext cx="3108960" cy="219456"/>
          </a:xfrm>
          <a:prstGeom prst="rect">
            <a:avLst/>
          </a:prstGeom>
          <a:noFill/>
          <a:ln/>
        </p:spPr>
        <p:txBody>
          <a:bodyPr wrap="square" lIns="0" tIns="0" rIns="0" bIns="0" rtlCol="0" anchor="ctr"/>
          <a:lstStyle/>
          <a:p>
            <a:pPr marL="0" indent="0">
              <a:buNone/>
            </a:pPr>
            <a:r>
              <a:rPr lang="en-US" sz="900" b="1" kern="0" spc="120" dirty="0">
                <a:solidFill>
                  <a:srgbClr val="C97F0E"/>
                </a:solidFill>
                <a:latin typeface="Calibri" pitchFamily="34" charset="0"/>
                <a:ea typeface="Calibri" pitchFamily="34" charset="-122"/>
                <a:cs typeface="Calibri" pitchFamily="34" charset="-120"/>
              </a:rPr>
              <a:t>BUSINESS QUESTION</a:t>
            </a:r>
            <a:endParaRPr lang="en-US" sz="900" dirty="0"/>
          </a:p>
        </p:txBody>
      </p:sp>
      <p:sp>
        <p:nvSpPr>
          <p:cNvPr id="39" name="Text 31"/>
          <p:cNvSpPr txBox="1"/>
          <p:nvPr/>
        </p:nvSpPr>
        <p:spPr>
          <a:xfrm>
            <a:off x="8467344" y="5047488"/>
            <a:ext cx="3108960" cy="658368"/>
          </a:xfrm>
          <a:prstGeom prst="rect">
            <a:avLst/>
          </a:prstGeom>
          <a:noFill/>
          <a:ln/>
        </p:spPr>
        <p:txBody>
          <a:bodyPr wrap="square" lIns="0" tIns="0" rIns="0" bIns="0" rtlCol="0" anchor="ctr"/>
          <a:lstStyle/>
          <a:p>
            <a:pPr marL="0" indent="0">
              <a:lnSpc>
                <a:spcPct val="115000"/>
              </a:lnSpc>
              <a:buNone/>
            </a:pPr>
            <a:r>
              <a:rPr lang="en-US" sz="1300" b="1" dirty="0">
                <a:solidFill>
                  <a:srgbClr val="20233A"/>
                </a:solidFill>
                <a:latin typeface="Calibri" pitchFamily="34" charset="0"/>
                <a:ea typeface="Calibri" pitchFamily="34" charset="-122"/>
                <a:cs typeface="Calibri" pitchFamily="34" charset="-120"/>
              </a:rPr>
              <a:t>How does one operator perform in depth?</a:t>
            </a:r>
            <a:endParaRPr lang="en-US" sz="1300" dirty="0"/>
          </a:p>
        </p:txBody>
      </p:sp>
      <p:sp>
        <p:nvSpPr>
          <p:cNvPr id="40" name="Text 32"/>
          <p:cNvSpPr txBox="1"/>
          <p:nvPr/>
        </p:nvSpPr>
        <p:spPr>
          <a:xfrm>
            <a:off x="8467344" y="5605272"/>
            <a:ext cx="3108960" cy="274320"/>
          </a:xfrm>
          <a:prstGeom prst="rect">
            <a:avLst/>
          </a:prstGeom>
          <a:noFill/>
          <a:ln/>
        </p:spPr>
        <p:txBody>
          <a:bodyPr wrap="square" lIns="0" tIns="0" rIns="0" bIns="0" rtlCol="0" anchor="ctr"/>
          <a:lstStyle/>
          <a:p>
            <a:pPr marL="0" indent="0">
              <a:buNone/>
            </a:pPr>
            <a:r>
              <a:rPr lang="en-US" sz="1050" i="1" dirty="0">
                <a:solidFill>
                  <a:srgbClr val="1E2761"/>
                </a:solidFill>
                <a:latin typeface="Calibri" pitchFamily="34" charset="0"/>
                <a:ea typeface="Calibri" pitchFamily="34" charset="-122"/>
                <a:cs typeface="Calibri" pitchFamily="34" charset="-120"/>
              </a:rPr>
              <a:t>Company Detail Drill-through</a:t>
            </a:r>
            <a:endParaRPr lang="en-US" sz="1050" dirty="0"/>
          </a:p>
        </p:txBody>
      </p:sp>
      <p:sp>
        <p:nvSpPr>
          <p:cNvPr id="41" name="Shape 33"/>
          <p:cNvSpPr/>
          <p:nvPr/>
        </p:nvSpPr>
        <p:spPr>
          <a:xfrm>
            <a:off x="548640" y="6473952"/>
            <a:ext cx="11091672" cy="0"/>
          </a:xfrm>
          <a:prstGeom prst="line">
            <a:avLst/>
          </a:prstGeom>
          <a:noFill/>
          <a:ln w="9525">
            <a:solidFill>
              <a:srgbClr val="E3E7F1"/>
            </a:solidFill>
            <a:prstDash val="solid"/>
          </a:ln>
        </p:spPr>
        <p:txBody>
          <a:bodyPr/>
          <a:lstStyle/>
          <a:p>
            <a:endParaRPr lang="en-US"/>
          </a:p>
        </p:txBody>
      </p:sp>
      <p:sp>
        <p:nvSpPr>
          <p:cNvPr id="42" name="Text 34"/>
          <p:cNvSpPr txBox="1"/>
          <p:nvPr/>
        </p:nvSpPr>
        <p:spPr>
          <a:xfrm>
            <a:off x="548640" y="6510528"/>
            <a:ext cx="8686800" cy="274320"/>
          </a:xfrm>
          <a:prstGeom prst="rect">
            <a:avLst/>
          </a:prstGeom>
          <a:noFill/>
          <a:ln/>
        </p:spPr>
        <p:txBody>
          <a:bodyPr wrap="square" lIns="0" tIns="0" rIns="0" bIns="0" rtlCol="0" anchor="ctr"/>
          <a:lstStyle/>
          <a:p>
            <a:pPr marL="0" indent="0">
              <a:buNone/>
            </a:pPr>
            <a:r>
              <a:rPr lang="en-US" sz="850" dirty="0">
                <a:solidFill>
                  <a:srgbClr val="98A2B3"/>
                </a:solidFill>
                <a:latin typeface="Calibri" pitchFamily="34" charset="0"/>
                <a:ea typeface="Calibri" pitchFamily="34" charset="-122"/>
                <a:cs typeface="Calibri" pitchFamily="34" charset="-120"/>
              </a:rPr>
              <a:t>SOS ALPHA SQUAD 4  |  CHICAGO TAXI POWER BI PROJECT</a:t>
            </a:r>
            <a:endParaRPr lang="en-US" sz="850" dirty="0"/>
          </a:p>
        </p:txBody>
      </p:sp>
      <p:sp>
        <p:nvSpPr>
          <p:cNvPr id="43" name="Text 35"/>
          <p:cNvSpPr txBox="1"/>
          <p:nvPr/>
        </p:nvSpPr>
        <p:spPr>
          <a:xfrm>
            <a:off x="11183112" y="6492240"/>
            <a:ext cx="457200" cy="292608"/>
          </a:xfrm>
          <a:prstGeom prst="rect">
            <a:avLst/>
          </a:prstGeom>
          <a:noFill/>
          <a:ln/>
        </p:spPr>
        <p:txBody>
          <a:bodyPr wrap="square" lIns="0" tIns="0" rIns="0" bIns="0" rtlCol="0" anchor="ctr"/>
          <a:lstStyle/>
          <a:p>
            <a:pPr marL="0" indent="0" algn="r">
              <a:buNone/>
            </a:pPr>
            <a:r>
              <a:rPr lang="en-US" sz="1000" b="1" dirty="0">
                <a:solidFill>
                  <a:srgbClr val="1E2761"/>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292608"/>
          </a:xfrm>
          <a:prstGeom prst="rect">
            <a:avLst/>
          </a:prstGeom>
          <a:noFill/>
          <a:ln/>
        </p:spPr>
        <p:txBody>
          <a:bodyPr wrap="square" lIns="0" tIns="0" rIns="0" bIns="0" rtlCol="0" anchor="ctr"/>
          <a:lstStyle/>
          <a:p>
            <a:pPr marL="0" indent="0">
              <a:buNone/>
            </a:pPr>
            <a:r>
              <a:rPr lang="en-US" sz="1250" b="1" kern="0" spc="200" dirty="0">
                <a:solidFill>
                  <a:srgbClr val="C97F0E"/>
                </a:solidFill>
                <a:latin typeface="Calibri" pitchFamily="34" charset="0"/>
                <a:ea typeface="Calibri" pitchFamily="34" charset="-122"/>
                <a:cs typeface="Calibri" pitchFamily="34" charset="-120"/>
              </a:rPr>
              <a:t>03  GETTING THE DATA READY</a:t>
            </a:r>
            <a:endParaRPr lang="en-US" sz="1250" dirty="0"/>
          </a:p>
        </p:txBody>
      </p:sp>
      <p:sp>
        <p:nvSpPr>
          <p:cNvPr id="3" name="Text 1"/>
          <p:cNvSpPr txBox="1"/>
          <p:nvPr/>
        </p:nvSpPr>
        <p:spPr>
          <a:xfrm>
            <a:off x="548640" y="694944"/>
            <a:ext cx="10789920" cy="566928"/>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From Raw Logs To A Trusted Dataset</a:t>
            </a:r>
            <a:endParaRPr lang="en-US" sz="2900" dirty="0"/>
          </a:p>
        </p:txBody>
      </p:sp>
      <p:sp>
        <p:nvSpPr>
          <p:cNvPr id="4" name="Text 2"/>
          <p:cNvSpPr txBox="1"/>
          <p:nvPr/>
        </p:nvSpPr>
        <p:spPr>
          <a:xfrm>
            <a:off x="548640" y="1225296"/>
            <a:ext cx="10789920" cy="329184"/>
          </a:xfrm>
          <a:prstGeom prst="rect">
            <a:avLst/>
          </a:prstGeom>
          <a:noFill/>
          <a:ln/>
        </p:spPr>
        <p:txBody>
          <a:bodyPr wrap="square" lIns="0" tIns="0" rIns="0" bIns="0" rtlCol="0" anchor="ctr"/>
          <a:lstStyle/>
          <a:p>
            <a:pPr marL="0" indent="0">
              <a:buNone/>
            </a:pPr>
            <a:r>
              <a:rPr lang="en-US" sz="1350" i="1" dirty="0">
                <a:solidFill>
                  <a:srgbClr val="667085"/>
                </a:solidFill>
                <a:latin typeface="Calibri" pitchFamily="34" charset="0"/>
                <a:ea typeface="Calibri" pitchFamily="34" charset="-122"/>
                <a:cs typeface="Calibri" pitchFamily="34" charset="-120"/>
              </a:rPr>
              <a:t>Every number on the dashboards traces back to a documented cleaning decision</a:t>
            </a:r>
            <a:endParaRPr lang="en-US" sz="1350" dirty="0"/>
          </a:p>
        </p:txBody>
      </p:sp>
      <p:sp>
        <p:nvSpPr>
          <p:cNvPr id="5" name="Shape 3"/>
          <p:cNvSpPr/>
          <p:nvPr/>
        </p:nvSpPr>
        <p:spPr>
          <a:xfrm>
            <a:off x="548640" y="1783080"/>
            <a:ext cx="2606040" cy="1051560"/>
          </a:xfrm>
          <a:prstGeom prst="roundRect">
            <a:avLst>
              <a:gd name="adj" fmla="val 6087"/>
            </a:avLst>
          </a:prstGeom>
          <a:solidFill>
            <a:srgbClr val="1E2761"/>
          </a:solidFill>
          <a:ln/>
        </p:spPr>
        <p:txBody>
          <a:bodyPr/>
          <a:lstStyle/>
          <a:p>
            <a:endParaRPr lang="en-US"/>
          </a:p>
        </p:txBody>
      </p:sp>
      <p:sp>
        <p:nvSpPr>
          <p:cNvPr id="6" name="Text 4"/>
          <p:cNvSpPr txBox="1"/>
          <p:nvPr/>
        </p:nvSpPr>
        <p:spPr>
          <a:xfrm>
            <a:off x="731520" y="1911096"/>
            <a:ext cx="224028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267,889</a:t>
            </a:r>
            <a:endParaRPr lang="en-US" sz="2600" dirty="0"/>
          </a:p>
        </p:txBody>
      </p:sp>
      <p:sp>
        <p:nvSpPr>
          <p:cNvPr id="7" name="Text 5"/>
          <p:cNvSpPr txBox="1"/>
          <p:nvPr/>
        </p:nvSpPr>
        <p:spPr>
          <a:xfrm>
            <a:off x="731520" y="2404872"/>
            <a:ext cx="2240280" cy="32004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imported rows</a:t>
            </a:r>
            <a:endParaRPr lang="en-US" sz="1150" dirty="0"/>
          </a:p>
        </p:txBody>
      </p:sp>
      <p:sp>
        <p:nvSpPr>
          <p:cNvPr id="8" name="Shape 6"/>
          <p:cNvSpPr/>
          <p:nvPr/>
        </p:nvSpPr>
        <p:spPr>
          <a:xfrm>
            <a:off x="3337560" y="1783080"/>
            <a:ext cx="2606040" cy="1051560"/>
          </a:xfrm>
          <a:prstGeom prst="roundRect">
            <a:avLst>
              <a:gd name="adj" fmla="val 6087"/>
            </a:avLst>
          </a:prstGeom>
          <a:solidFill>
            <a:srgbClr val="F7F8FC"/>
          </a:solidFill>
          <a:ln/>
        </p:spPr>
        <p:txBody>
          <a:bodyPr/>
          <a:lstStyle/>
          <a:p>
            <a:endParaRPr lang="en-US"/>
          </a:p>
        </p:txBody>
      </p:sp>
      <p:sp>
        <p:nvSpPr>
          <p:cNvPr id="9" name="Text 7"/>
          <p:cNvSpPr txBox="1"/>
          <p:nvPr/>
        </p:nvSpPr>
        <p:spPr>
          <a:xfrm>
            <a:off x="3520440" y="1911096"/>
            <a:ext cx="224028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267,884</a:t>
            </a:r>
            <a:endParaRPr lang="en-US" sz="2600" dirty="0"/>
          </a:p>
        </p:txBody>
      </p:sp>
      <p:sp>
        <p:nvSpPr>
          <p:cNvPr id="10" name="Text 8"/>
          <p:cNvSpPr txBox="1"/>
          <p:nvPr/>
        </p:nvSpPr>
        <p:spPr>
          <a:xfrm>
            <a:off x="3520440" y="2404872"/>
            <a:ext cx="2240280" cy="320040"/>
          </a:xfrm>
          <a:prstGeom prst="rect">
            <a:avLst/>
          </a:prstGeom>
          <a:noFill/>
          <a:ln/>
        </p:spPr>
        <p:txBody>
          <a:bodyPr wrap="square" lIns="0" tIns="0" rIns="0" bIns="0" rtlCol="0" anchor="ctr"/>
          <a:lstStyle/>
          <a:p>
            <a:pPr marL="0" indent="0">
              <a:buNone/>
            </a:pPr>
            <a:r>
              <a:rPr lang="en-US" sz="1150" dirty="0">
                <a:solidFill>
                  <a:srgbClr val="667085"/>
                </a:solidFill>
                <a:latin typeface="Calibri" pitchFamily="34" charset="0"/>
                <a:ea typeface="Calibri" pitchFamily="34" charset="-122"/>
                <a:cs typeface="Calibri" pitchFamily="34" charset="-120"/>
              </a:rPr>
              <a:t>retained trips</a:t>
            </a:r>
            <a:endParaRPr lang="en-US" sz="1150" dirty="0"/>
          </a:p>
        </p:txBody>
      </p:sp>
      <p:sp>
        <p:nvSpPr>
          <p:cNvPr id="11" name="Shape 9"/>
          <p:cNvSpPr/>
          <p:nvPr/>
        </p:nvSpPr>
        <p:spPr>
          <a:xfrm>
            <a:off x="6126480" y="1783080"/>
            <a:ext cx="2606040" cy="1051560"/>
          </a:xfrm>
          <a:prstGeom prst="roundRect">
            <a:avLst>
              <a:gd name="adj" fmla="val 6087"/>
            </a:avLst>
          </a:prstGeom>
          <a:solidFill>
            <a:srgbClr val="1E2761"/>
          </a:solidFill>
          <a:ln/>
        </p:spPr>
        <p:txBody>
          <a:bodyPr/>
          <a:lstStyle/>
          <a:p>
            <a:endParaRPr lang="en-US"/>
          </a:p>
        </p:txBody>
      </p:sp>
      <p:sp>
        <p:nvSpPr>
          <p:cNvPr id="12" name="Text 10"/>
          <p:cNvSpPr txBox="1"/>
          <p:nvPr/>
        </p:nvSpPr>
        <p:spPr>
          <a:xfrm>
            <a:off x="6309360" y="1911096"/>
            <a:ext cx="224028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13" name="Text 11"/>
          <p:cNvSpPr txBox="1"/>
          <p:nvPr/>
        </p:nvSpPr>
        <p:spPr>
          <a:xfrm>
            <a:off x="6309360" y="2404872"/>
            <a:ext cx="2240280" cy="32004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error rows removed</a:t>
            </a:r>
            <a:endParaRPr lang="en-US" sz="1150" dirty="0"/>
          </a:p>
        </p:txBody>
      </p:sp>
      <p:sp>
        <p:nvSpPr>
          <p:cNvPr id="14" name="Shape 12"/>
          <p:cNvSpPr/>
          <p:nvPr/>
        </p:nvSpPr>
        <p:spPr>
          <a:xfrm>
            <a:off x="8915400" y="1783080"/>
            <a:ext cx="2606040" cy="1051560"/>
          </a:xfrm>
          <a:prstGeom prst="roundRect">
            <a:avLst>
              <a:gd name="adj" fmla="val 6087"/>
            </a:avLst>
          </a:prstGeom>
          <a:solidFill>
            <a:srgbClr val="F7F8FC"/>
          </a:solidFill>
          <a:ln/>
        </p:spPr>
        <p:txBody>
          <a:bodyPr/>
          <a:lstStyle/>
          <a:p>
            <a:endParaRPr lang="en-US"/>
          </a:p>
        </p:txBody>
      </p:sp>
      <p:sp>
        <p:nvSpPr>
          <p:cNvPr id="15" name="Text 13"/>
          <p:cNvSpPr txBox="1"/>
          <p:nvPr/>
        </p:nvSpPr>
        <p:spPr>
          <a:xfrm>
            <a:off x="9098280" y="1911096"/>
            <a:ext cx="224028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20 days</a:t>
            </a:r>
            <a:endParaRPr lang="en-US" sz="2600" dirty="0"/>
          </a:p>
        </p:txBody>
      </p:sp>
      <p:sp>
        <p:nvSpPr>
          <p:cNvPr id="16" name="Text 14"/>
          <p:cNvSpPr txBox="1"/>
          <p:nvPr/>
        </p:nvSpPr>
        <p:spPr>
          <a:xfrm>
            <a:off x="9098280" y="2404872"/>
            <a:ext cx="2240280" cy="320040"/>
          </a:xfrm>
          <a:prstGeom prst="rect">
            <a:avLst/>
          </a:prstGeom>
          <a:noFill/>
          <a:ln/>
        </p:spPr>
        <p:txBody>
          <a:bodyPr wrap="square" lIns="0" tIns="0" rIns="0" bIns="0" rtlCol="0" anchor="ctr"/>
          <a:lstStyle/>
          <a:p>
            <a:pPr marL="0" indent="0">
              <a:buNone/>
            </a:pPr>
            <a:r>
              <a:rPr lang="en-US" sz="1150" dirty="0">
                <a:solidFill>
                  <a:srgbClr val="667085"/>
                </a:solidFill>
                <a:latin typeface="Calibri" pitchFamily="34" charset="0"/>
                <a:ea typeface="Calibri" pitchFamily="34" charset="-122"/>
                <a:cs typeface="Calibri" pitchFamily="34" charset="-120"/>
              </a:rPr>
              <a:t>covered (12–31 Dec 2023)</a:t>
            </a:r>
            <a:endParaRPr lang="en-US" sz="1150" dirty="0"/>
          </a:p>
        </p:txBody>
      </p:sp>
      <p:sp>
        <p:nvSpPr>
          <p:cNvPr id="17" name="Shape 15"/>
          <p:cNvSpPr/>
          <p:nvPr/>
        </p:nvSpPr>
        <p:spPr>
          <a:xfrm>
            <a:off x="548640" y="3063240"/>
            <a:ext cx="2606040" cy="2331720"/>
          </a:xfrm>
          <a:prstGeom prst="roundRect">
            <a:avLst>
              <a:gd name="adj" fmla="val 2745"/>
            </a:avLst>
          </a:prstGeom>
          <a:solidFill>
            <a:srgbClr val="F7F8FC"/>
          </a:solidFill>
          <a:ln/>
        </p:spPr>
        <p:txBody>
          <a:bodyPr/>
          <a:lstStyle/>
          <a:p>
            <a:endParaRPr lang="en-US"/>
          </a:p>
        </p:txBody>
      </p:sp>
      <p:sp>
        <p:nvSpPr>
          <p:cNvPr id="18" name="Shape 16"/>
          <p:cNvSpPr/>
          <p:nvPr/>
        </p:nvSpPr>
        <p:spPr>
          <a:xfrm>
            <a:off x="1568196" y="3236976"/>
            <a:ext cx="566928" cy="566928"/>
          </a:xfrm>
          <a:prstGeom prst="ellipse">
            <a:avLst/>
          </a:prstGeom>
          <a:solidFill>
            <a:srgbClr val="1E2761"/>
          </a:solidFill>
          <a:ln/>
        </p:spPr>
        <p:txBody>
          <a:bodyPr/>
          <a:lstStyle/>
          <a:p>
            <a:endParaRPr lang="en-US"/>
          </a:p>
        </p:txBody>
      </p:sp>
      <p:pic>
        <p:nvPicPr>
          <p:cNvPr id="19" name="Image 0" descr="icon_alert_w.png"/>
          <p:cNvPicPr>
            <a:picLocks noChangeAspect="1"/>
          </p:cNvPicPr>
          <p:nvPr/>
        </p:nvPicPr>
        <p:blipFill>
          <a:blip r:embed="rId3"/>
          <a:stretch>
            <a:fillRect/>
          </a:stretch>
        </p:blipFill>
        <p:spPr>
          <a:xfrm>
            <a:off x="1704259" y="3373039"/>
            <a:ext cx="294803" cy="294803"/>
          </a:xfrm>
          <a:prstGeom prst="rect">
            <a:avLst/>
          </a:prstGeom>
        </p:spPr>
      </p:pic>
      <p:sp>
        <p:nvSpPr>
          <p:cNvPr id="20" name="Text 17"/>
          <p:cNvSpPr txBox="1"/>
          <p:nvPr/>
        </p:nvSpPr>
        <p:spPr>
          <a:xfrm>
            <a:off x="731520" y="3904488"/>
            <a:ext cx="2240280" cy="274320"/>
          </a:xfrm>
          <a:prstGeom prst="rect">
            <a:avLst/>
          </a:prstGeom>
          <a:noFill/>
          <a:ln/>
        </p:spPr>
        <p:txBody>
          <a:bodyPr wrap="square" lIns="0" tIns="0" rIns="0" bIns="0" rtlCol="0" anchor="ctr"/>
          <a:lstStyle/>
          <a:p>
            <a:pPr marL="0" indent="0" algn="ctr">
              <a:buNone/>
            </a:pPr>
            <a:r>
              <a:rPr lang="en-US" sz="1250" b="1" kern="0" spc="150" dirty="0">
                <a:solidFill>
                  <a:srgbClr val="C97F0E"/>
                </a:solidFill>
                <a:latin typeface="Calibri" pitchFamily="34" charset="0"/>
                <a:ea typeface="Calibri" pitchFamily="34" charset="-122"/>
                <a:cs typeface="Calibri" pitchFamily="34" charset="-120"/>
              </a:rPr>
              <a:t>EXCLUDE</a:t>
            </a:r>
            <a:endParaRPr lang="en-US" sz="1250" dirty="0"/>
          </a:p>
        </p:txBody>
      </p:sp>
      <p:sp>
        <p:nvSpPr>
          <p:cNvPr id="21" name="Text 18"/>
          <p:cNvSpPr txBox="1"/>
          <p:nvPr/>
        </p:nvSpPr>
        <p:spPr>
          <a:xfrm>
            <a:off x="749808" y="4233672"/>
            <a:ext cx="2203704" cy="1097280"/>
          </a:xfrm>
          <a:prstGeom prst="rect">
            <a:avLst/>
          </a:prstGeom>
          <a:noFill/>
          <a:ln/>
        </p:spPr>
        <p:txBody>
          <a:bodyPr wrap="square" lIns="0" tIns="0" rIns="0" bIns="0" rtlCol="0" anchor="ctr"/>
          <a:lstStyle/>
          <a:p>
            <a:pPr marL="0" indent="0" algn="ctr">
              <a:lnSpc>
                <a:spcPct val="120000"/>
              </a:lnSpc>
              <a:buNone/>
            </a:pPr>
            <a:r>
              <a:rPr lang="en-US" sz="1080" dirty="0">
                <a:solidFill>
                  <a:srgbClr val="20233A"/>
                </a:solidFill>
                <a:latin typeface="Calibri" pitchFamily="34" charset="0"/>
                <a:ea typeface="Calibri" pitchFamily="34" charset="-122"/>
                <a:cs typeface="Calibri" pitchFamily="34" charset="-120"/>
              </a:rPr>
              <a:t>Five imported error payloads weren’t taxi trips removed, with the decision documented.</a:t>
            </a:r>
            <a:endParaRPr lang="en-US" sz="1080" dirty="0"/>
          </a:p>
        </p:txBody>
      </p:sp>
      <p:sp>
        <p:nvSpPr>
          <p:cNvPr id="22" name="Shape 19"/>
          <p:cNvSpPr/>
          <p:nvPr/>
        </p:nvSpPr>
        <p:spPr>
          <a:xfrm>
            <a:off x="3337560" y="3063240"/>
            <a:ext cx="2606040" cy="2331720"/>
          </a:xfrm>
          <a:prstGeom prst="roundRect">
            <a:avLst>
              <a:gd name="adj" fmla="val 2745"/>
            </a:avLst>
          </a:prstGeom>
          <a:solidFill>
            <a:srgbClr val="F7F8FC"/>
          </a:solidFill>
          <a:ln/>
        </p:spPr>
        <p:txBody>
          <a:bodyPr/>
          <a:lstStyle/>
          <a:p>
            <a:endParaRPr lang="en-US"/>
          </a:p>
        </p:txBody>
      </p:sp>
      <p:sp>
        <p:nvSpPr>
          <p:cNvPr id="23" name="Shape 20"/>
          <p:cNvSpPr/>
          <p:nvPr/>
        </p:nvSpPr>
        <p:spPr>
          <a:xfrm>
            <a:off x="4357116" y="3236976"/>
            <a:ext cx="566928" cy="566928"/>
          </a:xfrm>
          <a:prstGeom prst="ellipse">
            <a:avLst/>
          </a:prstGeom>
          <a:solidFill>
            <a:srgbClr val="1E2761"/>
          </a:solidFill>
          <a:ln/>
        </p:spPr>
        <p:txBody>
          <a:bodyPr/>
          <a:lstStyle/>
          <a:p>
            <a:endParaRPr lang="en-US"/>
          </a:p>
        </p:txBody>
      </p:sp>
      <p:pic>
        <p:nvPicPr>
          <p:cNvPr id="24" name="Image 1" descr="icon_check_w.png"/>
          <p:cNvPicPr>
            <a:picLocks noChangeAspect="1"/>
          </p:cNvPicPr>
          <p:nvPr/>
        </p:nvPicPr>
        <p:blipFill>
          <a:blip r:embed="rId4"/>
          <a:stretch>
            <a:fillRect/>
          </a:stretch>
        </p:blipFill>
        <p:spPr>
          <a:xfrm>
            <a:off x="4493179" y="3373039"/>
            <a:ext cx="294803" cy="294803"/>
          </a:xfrm>
          <a:prstGeom prst="rect">
            <a:avLst/>
          </a:prstGeom>
        </p:spPr>
      </p:pic>
      <p:sp>
        <p:nvSpPr>
          <p:cNvPr id="25" name="Text 21"/>
          <p:cNvSpPr txBox="1"/>
          <p:nvPr/>
        </p:nvSpPr>
        <p:spPr>
          <a:xfrm>
            <a:off x="3520440" y="3904488"/>
            <a:ext cx="2240280" cy="274320"/>
          </a:xfrm>
          <a:prstGeom prst="rect">
            <a:avLst/>
          </a:prstGeom>
          <a:noFill/>
          <a:ln/>
        </p:spPr>
        <p:txBody>
          <a:bodyPr wrap="square" lIns="0" tIns="0" rIns="0" bIns="0" rtlCol="0" anchor="ctr"/>
          <a:lstStyle/>
          <a:p>
            <a:pPr marL="0" indent="0" algn="ctr">
              <a:buNone/>
            </a:pPr>
            <a:r>
              <a:rPr lang="en-US" sz="1250" b="1" kern="0" spc="150" dirty="0">
                <a:solidFill>
                  <a:srgbClr val="C97F0E"/>
                </a:solidFill>
                <a:latin typeface="Calibri" pitchFamily="34" charset="0"/>
                <a:ea typeface="Calibri" pitchFamily="34" charset="-122"/>
                <a:cs typeface="Calibri" pitchFamily="34" charset="-120"/>
              </a:rPr>
              <a:t>KEEP</a:t>
            </a:r>
            <a:endParaRPr lang="en-US" sz="1250" dirty="0"/>
          </a:p>
        </p:txBody>
      </p:sp>
      <p:sp>
        <p:nvSpPr>
          <p:cNvPr id="26" name="Text 22"/>
          <p:cNvSpPr txBox="1"/>
          <p:nvPr/>
        </p:nvSpPr>
        <p:spPr>
          <a:xfrm>
            <a:off x="3538728" y="4233672"/>
            <a:ext cx="2203704" cy="1097280"/>
          </a:xfrm>
          <a:prstGeom prst="rect">
            <a:avLst/>
          </a:prstGeom>
          <a:noFill/>
          <a:ln/>
        </p:spPr>
        <p:txBody>
          <a:bodyPr wrap="square" lIns="0" tIns="0" rIns="0" bIns="0" rtlCol="0" anchor="ctr"/>
          <a:lstStyle/>
          <a:p>
            <a:pPr marL="0" indent="0" algn="ctr">
              <a:lnSpc>
                <a:spcPct val="120000"/>
              </a:lnSpc>
              <a:buNone/>
            </a:pPr>
            <a:r>
              <a:rPr lang="en-US" sz="1080" dirty="0">
                <a:solidFill>
                  <a:srgbClr val="20233A"/>
                </a:solidFill>
                <a:latin typeface="Calibri" pitchFamily="34" charset="0"/>
                <a:ea typeface="Calibri" pitchFamily="34" charset="-122"/>
                <a:cs typeface="Calibri" pitchFamily="34" charset="-120"/>
              </a:rPr>
              <a:t>Trips with missing area names still count in totals and revenue, just not in named-location charts.</a:t>
            </a:r>
            <a:endParaRPr lang="en-US" sz="1080" dirty="0"/>
          </a:p>
        </p:txBody>
      </p:sp>
      <p:sp>
        <p:nvSpPr>
          <p:cNvPr id="27" name="Shape 23"/>
          <p:cNvSpPr/>
          <p:nvPr/>
        </p:nvSpPr>
        <p:spPr>
          <a:xfrm>
            <a:off x="6126480" y="3063240"/>
            <a:ext cx="2606040" cy="2331720"/>
          </a:xfrm>
          <a:prstGeom prst="roundRect">
            <a:avLst>
              <a:gd name="adj" fmla="val 2745"/>
            </a:avLst>
          </a:prstGeom>
          <a:solidFill>
            <a:srgbClr val="F7F8FC"/>
          </a:solidFill>
          <a:ln/>
        </p:spPr>
        <p:txBody>
          <a:bodyPr/>
          <a:lstStyle/>
          <a:p>
            <a:endParaRPr lang="en-US"/>
          </a:p>
        </p:txBody>
      </p:sp>
      <p:sp>
        <p:nvSpPr>
          <p:cNvPr id="28" name="Shape 24"/>
          <p:cNvSpPr/>
          <p:nvPr/>
        </p:nvSpPr>
        <p:spPr>
          <a:xfrm>
            <a:off x="7146036" y="3236976"/>
            <a:ext cx="566928" cy="566928"/>
          </a:xfrm>
          <a:prstGeom prst="ellipse">
            <a:avLst/>
          </a:prstGeom>
          <a:solidFill>
            <a:srgbClr val="1E2761"/>
          </a:solidFill>
          <a:ln/>
        </p:spPr>
        <p:txBody>
          <a:bodyPr/>
          <a:lstStyle/>
          <a:p>
            <a:endParaRPr lang="en-US"/>
          </a:p>
        </p:txBody>
      </p:sp>
      <p:pic>
        <p:nvPicPr>
          <p:cNvPr id="29" name="Image 2" descr="icon_filter_w.png"/>
          <p:cNvPicPr>
            <a:picLocks noChangeAspect="1"/>
          </p:cNvPicPr>
          <p:nvPr/>
        </p:nvPicPr>
        <p:blipFill>
          <a:blip r:embed="rId5"/>
          <a:stretch>
            <a:fillRect/>
          </a:stretch>
        </p:blipFill>
        <p:spPr>
          <a:xfrm>
            <a:off x="7282099" y="3373039"/>
            <a:ext cx="294803" cy="294803"/>
          </a:xfrm>
          <a:prstGeom prst="rect">
            <a:avLst/>
          </a:prstGeom>
        </p:spPr>
      </p:pic>
      <p:sp>
        <p:nvSpPr>
          <p:cNvPr id="30" name="Text 25"/>
          <p:cNvSpPr txBox="1"/>
          <p:nvPr/>
        </p:nvSpPr>
        <p:spPr>
          <a:xfrm>
            <a:off x="6309360" y="3904488"/>
            <a:ext cx="2240280" cy="274320"/>
          </a:xfrm>
          <a:prstGeom prst="rect">
            <a:avLst/>
          </a:prstGeom>
          <a:noFill/>
          <a:ln/>
        </p:spPr>
        <p:txBody>
          <a:bodyPr wrap="square" lIns="0" tIns="0" rIns="0" bIns="0" rtlCol="0" anchor="ctr"/>
          <a:lstStyle/>
          <a:p>
            <a:pPr marL="0" indent="0" algn="ctr">
              <a:buNone/>
            </a:pPr>
            <a:r>
              <a:rPr lang="en-US" sz="1250" b="1" kern="0" spc="150" dirty="0">
                <a:solidFill>
                  <a:srgbClr val="C97F0E"/>
                </a:solidFill>
                <a:latin typeface="Calibri" pitchFamily="34" charset="0"/>
                <a:ea typeface="Calibri" pitchFamily="34" charset="-122"/>
                <a:cs typeface="Calibri" pitchFamily="34" charset="-120"/>
              </a:rPr>
              <a:t>REVIEW</a:t>
            </a:r>
            <a:endParaRPr lang="en-US" sz="1250" dirty="0"/>
          </a:p>
        </p:txBody>
      </p:sp>
      <p:sp>
        <p:nvSpPr>
          <p:cNvPr id="31" name="Text 26"/>
          <p:cNvSpPr txBox="1"/>
          <p:nvPr/>
        </p:nvSpPr>
        <p:spPr>
          <a:xfrm>
            <a:off x="6327648" y="4233672"/>
            <a:ext cx="2203704" cy="1097280"/>
          </a:xfrm>
          <a:prstGeom prst="rect">
            <a:avLst/>
          </a:prstGeom>
          <a:noFill/>
          <a:ln/>
        </p:spPr>
        <p:txBody>
          <a:bodyPr wrap="square" lIns="0" tIns="0" rIns="0" bIns="0" rtlCol="0" anchor="ctr"/>
          <a:lstStyle/>
          <a:p>
            <a:pPr marL="0" indent="0" algn="ctr">
              <a:lnSpc>
                <a:spcPct val="120000"/>
              </a:lnSpc>
              <a:buNone/>
            </a:pPr>
            <a:r>
              <a:rPr lang="en-US" sz="1080" dirty="0">
                <a:solidFill>
                  <a:srgbClr val="20233A"/>
                </a:solidFill>
                <a:latin typeface="Calibri" pitchFamily="34" charset="0"/>
                <a:ea typeface="Calibri" pitchFamily="34" charset="-122"/>
                <a:cs typeface="Calibri" pitchFamily="34" charset="-120"/>
              </a:rPr>
              <a:t>Unusual duration, fare, distance and speed values are reviewed only where they could affect a result (100 MPH implausible-speed threshold).</a:t>
            </a:r>
            <a:endParaRPr lang="en-US" sz="1080" dirty="0"/>
          </a:p>
        </p:txBody>
      </p:sp>
      <p:sp>
        <p:nvSpPr>
          <p:cNvPr id="32" name="Shape 27"/>
          <p:cNvSpPr/>
          <p:nvPr/>
        </p:nvSpPr>
        <p:spPr>
          <a:xfrm>
            <a:off x="8915400" y="3063240"/>
            <a:ext cx="2606040" cy="2331720"/>
          </a:xfrm>
          <a:prstGeom prst="roundRect">
            <a:avLst>
              <a:gd name="adj" fmla="val 2745"/>
            </a:avLst>
          </a:prstGeom>
          <a:solidFill>
            <a:srgbClr val="F7F8FC"/>
          </a:solidFill>
          <a:ln/>
        </p:spPr>
        <p:txBody>
          <a:bodyPr/>
          <a:lstStyle/>
          <a:p>
            <a:endParaRPr lang="en-US"/>
          </a:p>
        </p:txBody>
      </p:sp>
      <p:sp>
        <p:nvSpPr>
          <p:cNvPr id="33" name="Shape 28"/>
          <p:cNvSpPr/>
          <p:nvPr/>
        </p:nvSpPr>
        <p:spPr>
          <a:xfrm>
            <a:off x="9934956" y="3236976"/>
            <a:ext cx="566928" cy="566928"/>
          </a:xfrm>
          <a:prstGeom prst="ellipse">
            <a:avLst/>
          </a:prstGeom>
          <a:solidFill>
            <a:srgbClr val="1E2761"/>
          </a:solidFill>
          <a:ln/>
        </p:spPr>
        <p:txBody>
          <a:bodyPr/>
          <a:lstStyle/>
          <a:p>
            <a:endParaRPr lang="en-US"/>
          </a:p>
        </p:txBody>
      </p:sp>
      <p:pic>
        <p:nvPicPr>
          <p:cNvPr id="34" name="Image 3" descr="icon_layers_w.png"/>
          <p:cNvPicPr>
            <a:picLocks noChangeAspect="1"/>
          </p:cNvPicPr>
          <p:nvPr/>
        </p:nvPicPr>
        <p:blipFill>
          <a:blip r:embed="rId6"/>
          <a:stretch>
            <a:fillRect/>
          </a:stretch>
        </p:blipFill>
        <p:spPr>
          <a:xfrm>
            <a:off x="10071019" y="3373039"/>
            <a:ext cx="294803" cy="294803"/>
          </a:xfrm>
          <a:prstGeom prst="rect">
            <a:avLst/>
          </a:prstGeom>
        </p:spPr>
      </p:pic>
      <p:sp>
        <p:nvSpPr>
          <p:cNvPr id="35" name="Text 29"/>
          <p:cNvSpPr txBox="1"/>
          <p:nvPr/>
        </p:nvSpPr>
        <p:spPr>
          <a:xfrm>
            <a:off x="9098280" y="3904488"/>
            <a:ext cx="2240280" cy="274320"/>
          </a:xfrm>
          <a:prstGeom prst="rect">
            <a:avLst/>
          </a:prstGeom>
          <a:noFill/>
          <a:ln/>
        </p:spPr>
        <p:txBody>
          <a:bodyPr wrap="square" lIns="0" tIns="0" rIns="0" bIns="0" rtlCol="0" anchor="ctr"/>
          <a:lstStyle/>
          <a:p>
            <a:pPr marL="0" indent="0" algn="ctr">
              <a:buNone/>
            </a:pPr>
            <a:r>
              <a:rPr lang="en-US" sz="1250" b="1" kern="0" spc="150" dirty="0">
                <a:solidFill>
                  <a:srgbClr val="C97F0E"/>
                </a:solidFill>
                <a:latin typeface="Calibri" pitchFamily="34" charset="0"/>
                <a:ea typeface="Calibri" pitchFamily="34" charset="-122"/>
                <a:cs typeface="Calibri" pitchFamily="34" charset="-120"/>
              </a:rPr>
              <a:t>GROUP</a:t>
            </a:r>
            <a:endParaRPr lang="en-US" sz="1250" dirty="0"/>
          </a:p>
        </p:txBody>
      </p:sp>
      <p:sp>
        <p:nvSpPr>
          <p:cNvPr id="36" name="Text 30"/>
          <p:cNvSpPr txBox="1"/>
          <p:nvPr/>
        </p:nvSpPr>
        <p:spPr>
          <a:xfrm>
            <a:off x="9116568" y="4233672"/>
            <a:ext cx="2203704" cy="1097280"/>
          </a:xfrm>
          <a:prstGeom prst="rect">
            <a:avLst/>
          </a:prstGeom>
          <a:noFill/>
          <a:ln/>
        </p:spPr>
        <p:txBody>
          <a:bodyPr wrap="square" lIns="0" tIns="0" rIns="0" bIns="0" rtlCol="0" anchor="ctr"/>
          <a:lstStyle/>
          <a:p>
            <a:pPr marL="0" indent="0" algn="ctr">
              <a:lnSpc>
                <a:spcPct val="120000"/>
              </a:lnSpc>
              <a:buNone/>
            </a:pPr>
            <a:r>
              <a:rPr lang="en-US" sz="1080" dirty="0">
                <a:solidFill>
                  <a:srgbClr val="20233A"/>
                </a:solidFill>
                <a:latin typeface="Calibri" pitchFamily="34" charset="0"/>
                <a:ea typeface="Calibri" pitchFamily="34" charset="-122"/>
                <a:cs typeface="Calibri" pitchFamily="34" charset="-120"/>
              </a:rPr>
              <a:t>Busy periods grouped as 06–09 and 16–19. Fares bucketed from below $10 to $50+, plus Unknown.</a:t>
            </a:r>
            <a:endParaRPr lang="en-US" sz="1080" dirty="0"/>
          </a:p>
        </p:txBody>
      </p:sp>
      <p:sp>
        <p:nvSpPr>
          <p:cNvPr id="37" name="Shape 31"/>
          <p:cNvSpPr/>
          <p:nvPr/>
        </p:nvSpPr>
        <p:spPr>
          <a:xfrm>
            <a:off x="548640" y="5852160"/>
            <a:ext cx="11091672" cy="274319"/>
          </a:xfrm>
          <a:prstGeom prst="roundRect">
            <a:avLst>
              <a:gd name="adj" fmla="val 10909"/>
            </a:avLst>
          </a:prstGeom>
          <a:solidFill>
            <a:srgbClr val="1E2761"/>
          </a:solidFill>
          <a:ln/>
        </p:spPr>
        <p:txBody>
          <a:bodyPr/>
          <a:lstStyle/>
          <a:p>
            <a:endParaRPr lang="en-US"/>
          </a:p>
        </p:txBody>
      </p:sp>
      <p:sp>
        <p:nvSpPr>
          <p:cNvPr id="39" name="Shape 33"/>
          <p:cNvSpPr/>
          <p:nvPr/>
        </p:nvSpPr>
        <p:spPr>
          <a:xfrm>
            <a:off x="548640" y="6473952"/>
            <a:ext cx="11091672" cy="0"/>
          </a:xfrm>
          <a:prstGeom prst="line">
            <a:avLst/>
          </a:prstGeom>
          <a:noFill/>
          <a:ln w="9525">
            <a:solidFill>
              <a:srgbClr val="E3E7F1"/>
            </a:solidFill>
            <a:prstDash val="solid"/>
          </a:ln>
        </p:spPr>
        <p:txBody>
          <a:bodyPr/>
          <a:lstStyle/>
          <a:p>
            <a:endParaRPr lang="en-US"/>
          </a:p>
        </p:txBody>
      </p:sp>
      <p:sp>
        <p:nvSpPr>
          <p:cNvPr id="40" name="Text 34"/>
          <p:cNvSpPr txBox="1"/>
          <p:nvPr/>
        </p:nvSpPr>
        <p:spPr>
          <a:xfrm>
            <a:off x="548640" y="6510528"/>
            <a:ext cx="8686800" cy="274320"/>
          </a:xfrm>
          <a:prstGeom prst="rect">
            <a:avLst/>
          </a:prstGeom>
          <a:noFill/>
          <a:ln/>
        </p:spPr>
        <p:txBody>
          <a:bodyPr wrap="square" lIns="0" tIns="0" rIns="0" bIns="0" rtlCol="0" anchor="ctr"/>
          <a:lstStyle/>
          <a:p>
            <a:pPr marL="0" indent="0">
              <a:buNone/>
            </a:pPr>
            <a:r>
              <a:rPr lang="en-US" sz="850" dirty="0">
                <a:solidFill>
                  <a:srgbClr val="98A2B3"/>
                </a:solidFill>
                <a:latin typeface="Calibri" pitchFamily="34" charset="0"/>
                <a:ea typeface="Calibri" pitchFamily="34" charset="-122"/>
                <a:cs typeface="Calibri" pitchFamily="34" charset="-120"/>
              </a:rPr>
              <a:t>SOS ALPHA SQUAD 4  |  CHICAGO TAXI POWER BI PROJECT</a:t>
            </a:r>
            <a:endParaRPr lang="en-US" sz="850" dirty="0"/>
          </a:p>
        </p:txBody>
      </p:sp>
      <p:sp>
        <p:nvSpPr>
          <p:cNvPr id="41" name="Text 35"/>
          <p:cNvSpPr txBox="1"/>
          <p:nvPr/>
        </p:nvSpPr>
        <p:spPr>
          <a:xfrm>
            <a:off x="11183112" y="6492240"/>
            <a:ext cx="457200" cy="292608"/>
          </a:xfrm>
          <a:prstGeom prst="rect">
            <a:avLst/>
          </a:prstGeom>
          <a:noFill/>
          <a:ln/>
        </p:spPr>
        <p:txBody>
          <a:bodyPr wrap="square" lIns="0" tIns="0" rIns="0" bIns="0" rtlCol="0" anchor="ctr"/>
          <a:lstStyle/>
          <a:p>
            <a:pPr marL="0" indent="0" algn="r">
              <a:buNone/>
            </a:pPr>
            <a:r>
              <a:rPr lang="en-US" sz="1000" b="1" dirty="0">
                <a:solidFill>
                  <a:srgbClr val="1E2761"/>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292608"/>
          </a:xfrm>
          <a:prstGeom prst="rect">
            <a:avLst/>
          </a:prstGeom>
          <a:noFill/>
          <a:ln/>
        </p:spPr>
        <p:txBody>
          <a:bodyPr wrap="square" lIns="0" tIns="0" rIns="0" bIns="0" rtlCol="0" anchor="ctr"/>
          <a:lstStyle/>
          <a:p>
            <a:pPr marL="0" indent="0">
              <a:buNone/>
            </a:pPr>
            <a:r>
              <a:rPr lang="en-US" sz="1250" b="1" kern="0" spc="200" dirty="0">
                <a:solidFill>
                  <a:srgbClr val="C97F0E"/>
                </a:solidFill>
                <a:latin typeface="Calibri" pitchFamily="34" charset="0"/>
                <a:ea typeface="Calibri" pitchFamily="34" charset="-122"/>
                <a:cs typeface="Calibri" pitchFamily="34" charset="-120"/>
              </a:rPr>
              <a:t>04  STRUCTURING THE DATA</a:t>
            </a:r>
            <a:endParaRPr lang="en-US" sz="1250" dirty="0"/>
          </a:p>
        </p:txBody>
      </p:sp>
      <p:sp>
        <p:nvSpPr>
          <p:cNvPr id="3" name="Text 1"/>
          <p:cNvSpPr txBox="1"/>
          <p:nvPr/>
        </p:nvSpPr>
        <p:spPr>
          <a:xfrm>
            <a:off x="548640" y="694944"/>
            <a:ext cx="10789920" cy="566928"/>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A Star Schema Keeps Every Comparison Reliable</a:t>
            </a:r>
            <a:endParaRPr lang="en-US" sz="2900" dirty="0"/>
          </a:p>
        </p:txBody>
      </p:sp>
      <p:sp>
        <p:nvSpPr>
          <p:cNvPr id="4" name="Text 2"/>
          <p:cNvSpPr txBox="1"/>
          <p:nvPr/>
        </p:nvSpPr>
        <p:spPr>
          <a:xfrm>
            <a:off x="548640" y="1225296"/>
            <a:ext cx="10789920" cy="329184"/>
          </a:xfrm>
          <a:prstGeom prst="rect">
            <a:avLst/>
          </a:prstGeom>
          <a:noFill/>
          <a:ln/>
        </p:spPr>
        <p:txBody>
          <a:bodyPr wrap="square" lIns="0" tIns="0" rIns="0" bIns="0" rtlCol="0" anchor="ctr"/>
          <a:lstStyle/>
          <a:p>
            <a:pPr marL="0" indent="0">
              <a:buNone/>
            </a:pPr>
            <a:r>
              <a:rPr lang="en-US" sz="1350" i="1" dirty="0">
                <a:solidFill>
                  <a:srgbClr val="667085"/>
                </a:solidFill>
                <a:latin typeface="Calibri" pitchFamily="34" charset="0"/>
                <a:ea typeface="Calibri" pitchFamily="34" charset="-122"/>
                <a:cs typeface="Calibri" pitchFamily="34" charset="-120"/>
              </a:rPr>
              <a:t>One fact table at the grain of a single trip, surrounded by five reusable dimensions</a:t>
            </a:r>
            <a:endParaRPr lang="en-US" sz="1350" dirty="0"/>
          </a:p>
        </p:txBody>
      </p:sp>
      <p:sp>
        <p:nvSpPr>
          <p:cNvPr id="5" name="Shape 3"/>
          <p:cNvSpPr/>
          <p:nvPr/>
        </p:nvSpPr>
        <p:spPr>
          <a:xfrm>
            <a:off x="3383280" y="2423160"/>
            <a:ext cx="1188720" cy="365760"/>
          </a:xfrm>
          <a:prstGeom prst="line">
            <a:avLst/>
          </a:prstGeom>
          <a:noFill/>
          <a:ln w="19050">
            <a:solidFill>
              <a:srgbClr val="1E2761"/>
            </a:solidFill>
            <a:prstDash val="solid"/>
          </a:ln>
        </p:spPr>
        <p:txBody>
          <a:bodyPr/>
          <a:lstStyle/>
          <a:p>
            <a:endParaRPr lang="en-US"/>
          </a:p>
        </p:txBody>
      </p:sp>
      <p:sp>
        <p:nvSpPr>
          <p:cNvPr id="6" name="Shape 4"/>
          <p:cNvSpPr/>
          <p:nvPr/>
        </p:nvSpPr>
        <p:spPr>
          <a:xfrm flipH="1">
            <a:off x="7589520" y="2423160"/>
            <a:ext cx="1188720" cy="365760"/>
          </a:xfrm>
          <a:prstGeom prst="line">
            <a:avLst/>
          </a:prstGeom>
          <a:noFill/>
          <a:ln w="19050">
            <a:solidFill>
              <a:srgbClr val="1E2761"/>
            </a:solidFill>
            <a:prstDash val="solid"/>
          </a:ln>
        </p:spPr>
        <p:txBody>
          <a:bodyPr/>
          <a:lstStyle/>
          <a:p>
            <a:endParaRPr lang="en-US"/>
          </a:p>
        </p:txBody>
      </p:sp>
      <p:sp>
        <p:nvSpPr>
          <p:cNvPr id="7" name="Shape 5"/>
          <p:cNvSpPr/>
          <p:nvPr/>
        </p:nvSpPr>
        <p:spPr>
          <a:xfrm>
            <a:off x="2834640" y="3429000"/>
            <a:ext cx="1737360" cy="22860"/>
          </a:xfrm>
          <a:prstGeom prst="line">
            <a:avLst/>
          </a:prstGeom>
          <a:noFill/>
          <a:ln w="19050">
            <a:solidFill>
              <a:srgbClr val="1E2761"/>
            </a:solidFill>
            <a:prstDash val="solid"/>
          </a:ln>
        </p:spPr>
        <p:txBody>
          <a:bodyPr/>
          <a:lstStyle/>
          <a:p>
            <a:endParaRPr lang="en-US"/>
          </a:p>
        </p:txBody>
      </p:sp>
      <p:sp>
        <p:nvSpPr>
          <p:cNvPr id="8" name="Shape 6"/>
          <p:cNvSpPr/>
          <p:nvPr/>
        </p:nvSpPr>
        <p:spPr>
          <a:xfrm flipH="1">
            <a:off x="7589520" y="3429000"/>
            <a:ext cx="1737360" cy="22860"/>
          </a:xfrm>
          <a:prstGeom prst="line">
            <a:avLst/>
          </a:prstGeom>
          <a:noFill/>
          <a:ln w="19050">
            <a:solidFill>
              <a:srgbClr val="1E2761"/>
            </a:solidFill>
            <a:prstDash val="solid"/>
          </a:ln>
        </p:spPr>
        <p:txBody>
          <a:bodyPr/>
          <a:lstStyle/>
          <a:p>
            <a:endParaRPr lang="en-US"/>
          </a:p>
        </p:txBody>
      </p:sp>
      <p:sp>
        <p:nvSpPr>
          <p:cNvPr id="9" name="Shape 7"/>
          <p:cNvSpPr/>
          <p:nvPr/>
        </p:nvSpPr>
        <p:spPr>
          <a:xfrm>
            <a:off x="5897880" y="4114800"/>
            <a:ext cx="914" cy="731520"/>
          </a:xfrm>
          <a:prstGeom prst="line">
            <a:avLst/>
          </a:prstGeom>
          <a:noFill/>
          <a:ln w="22225">
            <a:solidFill>
              <a:srgbClr val="1E2761"/>
            </a:solidFill>
            <a:prstDash val="solid"/>
          </a:ln>
        </p:spPr>
        <p:txBody>
          <a:bodyPr/>
          <a:lstStyle/>
          <a:p>
            <a:endParaRPr lang="en-US"/>
          </a:p>
        </p:txBody>
      </p:sp>
      <p:sp>
        <p:nvSpPr>
          <p:cNvPr id="10" name="Shape 8"/>
          <p:cNvSpPr/>
          <p:nvPr/>
        </p:nvSpPr>
        <p:spPr>
          <a:xfrm>
            <a:off x="6263640" y="4114800"/>
            <a:ext cx="914" cy="731520"/>
          </a:xfrm>
          <a:prstGeom prst="line">
            <a:avLst/>
          </a:prstGeom>
          <a:noFill/>
          <a:ln w="22225">
            <a:solidFill>
              <a:srgbClr val="98A2B3"/>
            </a:solidFill>
            <a:prstDash val="dash"/>
          </a:ln>
        </p:spPr>
        <p:txBody>
          <a:bodyPr/>
          <a:lstStyle/>
          <a:p>
            <a:endParaRPr lang="en-US"/>
          </a:p>
        </p:txBody>
      </p:sp>
      <p:sp>
        <p:nvSpPr>
          <p:cNvPr id="11" name="Text 9"/>
          <p:cNvSpPr txBox="1"/>
          <p:nvPr/>
        </p:nvSpPr>
        <p:spPr>
          <a:xfrm>
            <a:off x="4663440" y="4407408"/>
            <a:ext cx="1188720" cy="219456"/>
          </a:xfrm>
          <a:prstGeom prst="rect">
            <a:avLst/>
          </a:prstGeom>
          <a:noFill/>
          <a:ln/>
        </p:spPr>
        <p:txBody>
          <a:bodyPr wrap="square" lIns="0" tIns="0" rIns="0" bIns="0" rtlCol="0" anchor="ctr"/>
          <a:lstStyle/>
          <a:p>
            <a:pPr marL="0" indent="0" algn="r">
              <a:buNone/>
            </a:pPr>
            <a:r>
              <a:rPr lang="en-US" sz="850" b="1" dirty="0">
                <a:solidFill>
                  <a:srgbClr val="1E2761"/>
                </a:solidFill>
                <a:latin typeface="Calibri" pitchFamily="34" charset="0"/>
                <a:ea typeface="Calibri" pitchFamily="34" charset="-122"/>
                <a:cs typeface="Calibri" pitchFamily="34" charset="-120"/>
              </a:rPr>
              <a:t>active · Pickup</a:t>
            </a:r>
            <a:endParaRPr lang="en-US" sz="850" dirty="0"/>
          </a:p>
        </p:txBody>
      </p:sp>
      <p:sp>
        <p:nvSpPr>
          <p:cNvPr id="12" name="Text 10"/>
          <p:cNvSpPr txBox="1"/>
          <p:nvPr/>
        </p:nvSpPr>
        <p:spPr>
          <a:xfrm>
            <a:off x="6309360" y="4681728"/>
            <a:ext cx="2103120" cy="219456"/>
          </a:xfrm>
          <a:prstGeom prst="rect">
            <a:avLst/>
          </a:prstGeom>
          <a:noFill/>
          <a:ln/>
        </p:spPr>
        <p:txBody>
          <a:bodyPr wrap="square" lIns="0" tIns="0" rIns="0" bIns="0" rtlCol="0" anchor="ctr"/>
          <a:lstStyle/>
          <a:p>
            <a:pPr marL="0" indent="0">
              <a:buNone/>
            </a:pPr>
            <a:r>
              <a:rPr lang="en-US" sz="850" i="1" dirty="0">
                <a:solidFill>
                  <a:srgbClr val="667085"/>
                </a:solidFill>
                <a:latin typeface="Calibri" pitchFamily="34" charset="0"/>
                <a:ea typeface="Calibri" pitchFamily="34" charset="-122"/>
                <a:cs typeface="Calibri" pitchFamily="34" charset="-120"/>
              </a:rPr>
              <a:t>inactive · Dropoff (USERELATIONSHIP)</a:t>
            </a:r>
            <a:endParaRPr lang="en-US" sz="850" dirty="0"/>
          </a:p>
        </p:txBody>
      </p:sp>
      <p:sp>
        <p:nvSpPr>
          <p:cNvPr id="13" name="Shape 11"/>
          <p:cNvSpPr/>
          <p:nvPr/>
        </p:nvSpPr>
        <p:spPr>
          <a:xfrm>
            <a:off x="4572000" y="2788920"/>
            <a:ext cx="3017520" cy="1325880"/>
          </a:xfrm>
          <a:prstGeom prst="roundRect">
            <a:avLst>
              <a:gd name="adj" fmla="val 6207"/>
            </a:avLst>
          </a:prstGeom>
          <a:solidFill>
            <a:srgbClr val="1E2761"/>
          </a:solidFill>
          <a:ln/>
          <a:effectLst>
            <a:outerShdw blurRad="101600" dist="38100" dir="5400000" algn="bl" rotWithShape="0">
              <a:srgbClr val="1E2761">
                <a:alpha val="35000"/>
              </a:srgbClr>
            </a:outerShdw>
          </a:effectLst>
        </p:spPr>
        <p:txBody>
          <a:bodyPr/>
          <a:lstStyle/>
          <a:p>
            <a:endParaRPr lang="en-US"/>
          </a:p>
        </p:txBody>
      </p:sp>
      <p:sp>
        <p:nvSpPr>
          <p:cNvPr id="14" name="Text 12"/>
          <p:cNvSpPr txBox="1"/>
          <p:nvPr/>
        </p:nvSpPr>
        <p:spPr>
          <a:xfrm>
            <a:off x="4800600" y="2916936"/>
            <a:ext cx="2560320" cy="237744"/>
          </a:xfrm>
          <a:prstGeom prst="rect">
            <a:avLst/>
          </a:prstGeom>
          <a:noFill/>
          <a:ln/>
        </p:spPr>
        <p:txBody>
          <a:bodyPr wrap="square" lIns="0" tIns="0" rIns="0" bIns="0" rtlCol="0" anchor="ctr"/>
          <a:lstStyle/>
          <a:p>
            <a:pPr marL="0" indent="0">
              <a:buNone/>
            </a:pPr>
            <a:r>
              <a:rPr lang="en-US" sz="1000" b="1" kern="0" spc="150" dirty="0">
                <a:solidFill>
                  <a:srgbClr val="F5A623"/>
                </a:solidFill>
                <a:latin typeface="Calibri" pitchFamily="34" charset="0"/>
                <a:ea typeface="Calibri" pitchFamily="34" charset="-122"/>
                <a:cs typeface="Calibri" pitchFamily="34" charset="-120"/>
              </a:rPr>
              <a:t>FACT TABLE</a:t>
            </a:r>
            <a:endParaRPr lang="en-US" sz="1000" dirty="0"/>
          </a:p>
        </p:txBody>
      </p:sp>
      <p:sp>
        <p:nvSpPr>
          <p:cNvPr id="15" name="Text 13"/>
          <p:cNvSpPr txBox="1"/>
          <p:nvPr/>
        </p:nvSpPr>
        <p:spPr>
          <a:xfrm>
            <a:off x="4800600" y="3172968"/>
            <a:ext cx="256032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FactTaxiTrips</a:t>
            </a:r>
            <a:endParaRPr lang="en-US" sz="1900" dirty="0"/>
          </a:p>
        </p:txBody>
      </p:sp>
      <p:sp>
        <p:nvSpPr>
          <p:cNvPr id="16" name="Text 14"/>
          <p:cNvSpPr txBox="1"/>
          <p:nvPr/>
        </p:nvSpPr>
        <p:spPr>
          <a:xfrm>
            <a:off x="4800600" y="3630168"/>
            <a:ext cx="2560320" cy="411480"/>
          </a:xfrm>
          <a:prstGeom prst="rect">
            <a:avLst/>
          </a:prstGeom>
          <a:noFill/>
          <a:ln/>
        </p:spPr>
        <p:txBody>
          <a:bodyPr wrap="square" lIns="0" tIns="0" rIns="0" bIns="0" rtlCol="0" anchor="ctr"/>
          <a:lstStyle/>
          <a:p>
            <a:pPr marL="0" indent="0">
              <a:lnSpc>
                <a:spcPct val="110000"/>
              </a:lnSpc>
              <a:buNone/>
            </a:pPr>
            <a:r>
              <a:rPr lang="en-US" sz="1050" dirty="0">
                <a:solidFill>
                  <a:srgbClr val="CADCFC"/>
                </a:solidFill>
                <a:latin typeface="Calibri" pitchFamily="34" charset="0"/>
                <a:ea typeface="Calibri" pitchFamily="34" charset="-122"/>
                <a:cs typeface="Calibri" pitchFamily="34" charset="-120"/>
              </a:rPr>
              <a:t>One row per trip · 267,884 records</a:t>
            </a:r>
            <a:endParaRPr lang="en-US" sz="1050" dirty="0"/>
          </a:p>
        </p:txBody>
      </p:sp>
      <p:sp>
        <p:nvSpPr>
          <p:cNvPr id="17" name="Shape 15"/>
          <p:cNvSpPr/>
          <p:nvPr/>
        </p:nvSpPr>
        <p:spPr>
          <a:xfrm>
            <a:off x="1097280" y="1554480"/>
            <a:ext cx="2286000" cy="868680"/>
          </a:xfrm>
          <a:prstGeom prst="roundRect">
            <a:avLst>
              <a:gd name="adj" fmla="val 7368"/>
            </a:avLst>
          </a:prstGeom>
          <a:solidFill>
            <a:srgbClr val="F7F8FC"/>
          </a:solidFill>
          <a:ln w="12700">
            <a:solidFill>
              <a:srgbClr val="E3E7F1"/>
            </a:solidFill>
            <a:prstDash val="solid"/>
          </a:ln>
        </p:spPr>
        <p:txBody>
          <a:bodyPr/>
          <a:lstStyle/>
          <a:p>
            <a:endParaRPr lang="en-US"/>
          </a:p>
        </p:txBody>
      </p:sp>
      <p:sp>
        <p:nvSpPr>
          <p:cNvPr id="18" name="Shape 16"/>
          <p:cNvSpPr/>
          <p:nvPr/>
        </p:nvSpPr>
        <p:spPr>
          <a:xfrm>
            <a:off x="1280160" y="1760220"/>
            <a:ext cx="457200" cy="457200"/>
          </a:xfrm>
          <a:prstGeom prst="ellipse">
            <a:avLst/>
          </a:prstGeom>
          <a:solidFill>
            <a:srgbClr val="24316E"/>
          </a:solidFill>
          <a:ln/>
        </p:spPr>
        <p:txBody>
          <a:bodyPr/>
          <a:lstStyle/>
          <a:p>
            <a:endParaRPr lang="en-US"/>
          </a:p>
        </p:txBody>
      </p:sp>
      <p:pic>
        <p:nvPicPr>
          <p:cNvPr id="19" name="Image 0" descr="icon_clock_w.png"/>
          <p:cNvPicPr>
            <a:picLocks noChangeAspect="1"/>
          </p:cNvPicPr>
          <p:nvPr/>
        </p:nvPicPr>
        <p:blipFill>
          <a:blip r:embed="rId3"/>
          <a:stretch>
            <a:fillRect/>
          </a:stretch>
        </p:blipFill>
        <p:spPr>
          <a:xfrm>
            <a:off x="1389888" y="1869948"/>
            <a:ext cx="237744" cy="237744"/>
          </a:xfrm>
          <a:prstGeom prst="rect">
            <a:avLst/>
          </a:prstGeom>
        </p:spPr>
      </p:pic>
      <p:sp>
        <p:nvSpPr>
          <p:cNvPr id="20" name="Text 17"/>
          <p:cNvSpPr txBox="1"/>
          <p:nvPr/>
        </p:nvSpPr>
        <p:spPr>
          <a:xfrm>
            <a:off x="1828800" y="1645920"/>
            <a:ext cx="141732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DimDate</a:t>
            </a:r>
            <a:endParaRPr lang="en-US" sz="1250" dirty="0"/>
          </a:p>
        </p:txBody>
      </p:sp>
      <p:sp>
        <p:nvSpPr>
          <p:cNvPr id="21" name="Text 18"/>
          <p:cNvSpPr txBox="1"/>
          <p:nvPr/>
        </p:nvSpPr>
        <p:spPr>
          <a:xfrm>
            <a:off x="1828800" y="1929384"/>
            <a:ext cx="1417320" cy="502920"/>
          </a:xfrm>
          <a:prstGeom prst="rect">
            <a:avLst/>
          </a:prstGeom>
          <a:noFill/>
          <a:ln/>
        </p:spPr>
        <p:txBody>
          <a:bodyPr wrap="square" lIns="0" tIns="0" rIns="0" bIns="0" rtlCol="0" anchor="ctr"/>
          <a:lstStyle/>
          <a:p>
            <a:pPr marL="0" indent="0">
              <a:lnSpc>
                <a:spcPct val="110000"/>
              </a:lnSpc>
              <a:buNone/>
            </a:pPr>
            <a:r>
              <a:rPr lang="en-US" sz="900" dirty="0">
                <a:solidFill>
                  <a:srgbClr val="667085"/>
                </a:solidFill>
                <a:latin typeface="Calibri" pitchFamily="34" charset="0"/>
                <a:ea typeface="Calibri" pitchFamily="34" charset="-122"/>
                <a:cs typeface="Calibri" pitchFamily="34" charset="-120"/>
              </a:rPr>
              <a:t>One row per calendar day</a:t>
            </a:r>
            <a:endParaRPr lang="en-US" sz="900" dirty="0"/>
          </a:p>
        </p:txBody>
      </p:sp>
      <p:sp>
        <p:nvSpPr>
          <p:cNvPr id="22" name="Shape 19"/>
          <p:cNvSpPr/>
          <p:nvPr/>
        </p:nvSpPr>
        <p:spPr>
          <a:xfrm>
            <a:off x="8778240" y="1554480"/>
            <a:ext cx="2286000" cy="868680"/>
          </a:xfrm>
          <a:prstGeom prst="roundRect">
            <a:avLst>
              <a:gd name="adj" fmla="val 7368"/>
            </a:avLst>
          </a:prstGeom>
          <a:solidFill>
            <a:srgbClr val="F7F8FC"/>
          </a:solidFill>
          <a:ln w="12700">
            <a:solidFill>
              <a:srgbClr val="E3E7F1"/>
            </a:solidFill>
            <a:prstDash val="solid"/>
          </a:ln>
        </p:spPr>
        <p:txBody>
          <a:bodyPr/>
          <a:lstStyle/>
          <a:p>
            <a:endParaRPr lang="en-US"/>
          </a:p>
        </p:txBody>
      </p:sp>
      <p:sp>
        <p:nvSpPr>
          <p:cNvPr id="23" name="Shape 20"/>
          <p:cNvSpPr/>
          <p:nvPr/>
        </p:nvSpPr>
        <p:spPr>
          <a:xfrm>
            <a:off x="8961120" y="1760220"/>
            <a:ext cx="457200" cy="457200"/>
          </a:xfrm>
          <a:prstGeom prst="ellipse">
            <a:avLst/>
          </a:prstGeom>
          <a:solidFill>
            <a:srgbClr val="24316E"/>
          </a:solidFill>
          <a:ln/>
        </p:spPr>
        <p:txBody>
          <a:bodyPr/>
          <a:lstStyle/>
          <a:p>
            <a:endParaRPr lang="en-US"/>
          </a:p>
        </p:txBody>
      </p:sp>
      <p:pic>
        <p:nvPicPr>
          <p:cNvPr id="24" name="Image 1" descr="icon_clock_w.png"/>
          <p:cNvPicPr>
            <a:picLocks noChangeAspect="1"/>
          </p:cNvPicPr>
          <p:nvPr/>
        </p:nvPicPr>
        <p:blipFill>
          <a:blip r:embed="rId3"/>
          <a:stretch>
            <a:fillRect/>
          </a:stretch>
        </p:blipFill>
        <p:spPr>
          <a:xfrm>
            <a:off x="9070848" y="1869948"/>
            <a:ext cx="237744" cy="237744"/>
          </a:xfrm>
          <a:prstGeom prst="rect">
            <a:avLst/>
          </a:prstGeom>
        </p:spPr>
      </p:pic>
      <p:sp>
        <p:nvSpPr>
          <p:cNvPr id="25" name="Text 21"/>
          <p:cNvSpPr txBox="1"/>
          <p:nvPr/>
        </p:nvSpPr>
        <p:spPr>
          <a:xfrm>
            <a:off x="9509760" y="1645920"/>
            <a:ext cx="141732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DimTime</a:t>
            </a:r>
            <a:endParaRPr lang="en-US" sz="1250" dirty="0"/>
          </a:p>
        </p:txBody>
      </p:sp>
      <p:sp>
        <p:nvSpPr>
          <p:cNvPr id="26" name="Text 22"/>
          <p:cNvSpPr txBox="1"/>
          <p:nvPr/>
        </p:nvSpPr>
        <p:spPr>
          <a:xfrm>
            <a:off x="9509760" y="1929384"/>
            <a:ext cx="1417320" cy="502920"/>
          </a:xfrm>
          <a:prstGeom prst="rect">
            <a:avLst/>
          </a:prstGeom>
          <a:noFill/>
          <a:ln/>
        </p:spPr>
        <p:txBody>
          <a:bodyPr wrap="square" lIns="0" tIns="0" rIns="0" bIns="0" rtlCol="0" anchor="ctr"/>
          <a:lstStyle/>
          <a:p>
            <a:pPr marL="0" indent="0">
              <a:lnSpc>
                <a:spcPct val="110000"/>
              </a:lnSpc>
              <a:buNone/>
            </a:pPr>
            <a:r>
              <a:rPr lang="en-US" sz="900" dirty="0">
                <a:solidFill>
                  <a:srgbClr val="667085"/>
                </a:solidFill>
                <a:latin typeface="Calibri" pitchFamily="34" charset="0"/>
                <a:ea typeface="Calibri" pitchFamily="34" charset="-122"/>
                <a:cs typeface="Calibri" pitchFamily="34" charset="-120"/>
              </a:rPr>
              <a:t>Hour &amp; shift bucket</a:t>
            </a:r>
            <a:endParaRPr lang="en-US" sz="900" dirty="0"/>
          </a:p>
        </p:txBody>
      </p:sp>
      <p:sp>
        <p:nvSpPr>
          <p:cNvPr id="27" name="Shape 23"/>
          <p:cNvSpPr/>
          <p:nvPr/>
        </p:nvSpPr>
        <p:spPr>
          <a:xfrm>
            <a:off x="548640" y="2971800"/>
            <a:ext cx="2286000" cy="914400"/>
          </a:xfrm>
          <a:prstGeom prst="roundRect">
            <a:avLst>
              <a:gd name="adj" fmla="val 7000"/>
            </a:avLst>
          </a:prstGeom>
          <a:solidFill>
            <a:srgbClr val="F7F8FC"/>
          </a:solidFill>
          <a:ln w="12700">
            <a:solidFill>
              <a:srgbClr val="E3E7F1"/>
            </a:solidFill>
            <a:prstDash val="solid"/>
          </a:ln>
        </p:spPr>
        <p:txBody>
          <a:bodyPr/>
          <a:lstStyle/>
          <a:p>
            <a:endParaRPr lang="en-US"/>
          </a:p>
        </p:txBody>
      </p:sp>
      <p:sp>
        <p:nvSpPr>
          <p:cNvPr id="28" name="Shape 24"/>
          <p:cNvSpPr/>
          <p:nvPr/>
        </p:nvSpPr>
        <p:spPr>
          <a:xfrm>
            <a:off x="731520" y="3200400"/>
            <a:ext cx="457200" cy="457200"/>
          </a:xfrm>
          <a:prstGeom prst="ellipse">
            <a:avLst/>
          </a:prstGeom>
          <a:solidFill>
            <a:srgbClr val="24316E"/>
          </a:solidFill>
          <a:ln/>
        </p:spPr>
        <p:txBody>
          <a:bodyPr/>
          <a:lstStyle/>
          <a:p>
            <a:endParaRPr lang="en-US"/>
          </a:p>
        </p:txBody>
      </p:sp>
      <p:pic>
        <p:nvPicPr>
          <p:cNvPr id="29" name="Image 2" descr="icon_creditcard_w.png"/>
          <p:cNvPicPr>
            <a:picLocks noChangeAspect="1"/>
          </p:cNvPicPr>
          <p:nvPr/>
        </p:nvPicPr>
        <p:blipFill>
          <a:blip r:embed="rId4"/>
          <a:stretch>
            <a:fillRect/>
          </a:stretch>
        </p:blipFill>
        <p:spPr>
          <a:xfrm>
            <a:off x="841248" y="3310128"/>
            <a:ext cx="237744" cy="237744"/>
          </a:xfrm>
          <a:prstGeom prst="rect">
            <a:avLst/>
          </a:prstGeom>
        </p:spPr>
      </p:pic>
      <p:sp>
        <p:nvSpPr>
          <p:cNvPr id="30" name="Text 25"/>
          <p:cNvSpPr txBox="1"/>
          <p:nvPr/>
        </p:nvSpPr>
        <p:spPr>
          <a:xfrm>
            <a:off x="1280160" y="3063240"/>
            <a:ext cx="141732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DimPayment</a:t>
            </a:r>
            <a:endParaRPr lang="en-US" sz="1250" dirty="0"/>
          </a:p>
        </p:txBody>
      </p:sp>
      <p:sp>
        <p:nvSpPr>
          <p:cNvPr id="31" name="Text 26"/>
          <p:cNvSpPr txBox="1"/>
          <p:nvPr/>
        </p:nvSpPr>
        <p:spPr>
          <a:xfrm>
            <a:off x="1280160" y="3346704"/>
            <a:ext cx="1417320" cy="502920"/>
          </a:xfrm>
          <a:prstGeom prst="rect">
            <a:avLst/>
          </a:prstGeom>
          <a:noFill/>
          <a:ln/>
        </p:spPr>
        <p:txBody>
          <a:bodyPr wrap="square" lIns="0" tIns="0" rIns="0" bIns="0" rtlCol="0" anchor="ctr"/>
          <a:lstStyle/>
          <a:p>
            <a:pPr marL="0" indent="0">
              <a:lnSpc>
                <a:spcPct val="110000"/>
              </a:lnSpc>
              <a:buNone/>
            </a:pPr>
            <a:r>
              <a:rPr lang="en-US" sz="900" dirty="0">
                <a:solidFill>
                  <a:srgbClr val="667085"/>
                </a:solidFill>
                <a:latin typeface="Calibri" pitchFamily="34" charset="0"/>
                <a:ea typeface="Calibri" pitchFamily="34" charset="-122"/>
                <a:cs typeface="Calibri" pitchFamily="34" charset="-120"/>
              </a:rPr>
              <a:t>Payment method type</a:t>
            </a:r>
            <a:endParaRPr lang="en-US" sz="900" dirty="0"/>
          </a:p>
        </p:txBody>
      </p:sp>
      <p:sp>
        <p:nvSpPr>
          <p:cNvPr id="32" name="Shape 27"/>
          <p:cNvSpPr/>
          <p:nvPr/>
        </p:nvSpPr>
        <p:spPr>
          <a:xfrm>
            <a:off x="9326880" y="2971800"/>
            <a:ext cx="2286000" cy="914400"/>
          </a:xfrm>
          <a:prstGeom prst="roundRect">
            <a:avLst>
              <a:gd name="adj" fmla="val 7000"/>
            </a:avLst>
          </a:prstGeom>
          <a:solidFill>
            <a:srgbClr val="F7F8FC"/>
          </a:solidFill>
          <a:ln w="12700">
            <a:solidFill>
              <a:srgbClr val="E3E7F1"/>
            </a:solidFill>
            <a:prstDash val="solid"/>
          </a:ln>
        </p:spPr>
        <p:txBody>
          <a:bodyPr/>
          <a:lstStyle/>
          <a:p>
            <a:endParaRPr lang="en-US"/>
          </a:p>
        </p:txBody>
      </p:sp>
      <p:sp>
        <p:nvSpPr>
          <p:cNvPr id="33" name="Shape 28"/>
          <p:cNvSpPr/>
          <p:nvPr/>
        </p:nvSpPr>
        <p:spPr>
          <a:xfrm>
            <a:off x="9509760" y="3200400"/>
            <a:ext cx="457200" cy="457200"/>
          </a:xfrm>
          <a:prstGeom prst="ellipse">
            <a:avLst/>
          </a:prstGeom>
          <a:solidFill>
            <a:srgbClr val="24316E"/>
          </a:solidFill>
          <a:ln/>
        </p:spPr>
        <p:txBody>
          <a:bodyPr/>
          <a:lstStyle/>
          <a:p>
            <a:endParaRPr lang="en-US"/>
          </a:p>
        </p:txBody>
      </p:sp>
      <p:pic>
        <p:nvPicPr>
          <p:cNvPr id="34" name="Image 3" descr="icon_building_w.png"/>
          <p:cNvPicPr>
            <a:picLocks noChangeAspect="1"/>
          </p:cNvPicPr>
          <p:nvPr/>
        </p:nvPicPr>
        <p:blipFill>
          <a:blip r:embed="rId5"/>
          <a:stretch>
            <a:fillRect/>
          </a:stretch>
        </p:blipFill>
        <p:spPr>
          <a:xfrm>
            <a:off x="9619488" y="3310128"/>
            <a:ext cx="237744" cy="237744"/>
          </a:xfrm>
          <a:prstGeom prst="rect">
            <a:avLst/>
          </a:prstGeom>
        </p:spPr>
      </p:pic>
      <p:sp>
        <p:nvSpPr>
          <p:cNvPr id="35" name="Text 29"/>
          <p:cNvSpPr txBox="1"/>
          <p:nvPr/>
        </p:nvSpPr>
        <p:spPr>
          <a:xfrm>
            <a:off x="10058400" y="3063240"/>
            <a:ext cx="141732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DimCompany</a:t>
            </a:r>
            <a:endParaRPr lang="en-US" sz="1250" dirty="0"/>
          </a:p>
        </p:txBody>
      </p:sp>
      <p:sp>
        <p:nvSpPr>
          <p:cNvPr id="36" name="Text 30"/>
          <p:cNvSpPr txBox="1"/>
          <p:nvPr/>
        </p:nvSpPr>
        <p:spPr>
          <a:xfrm>
            <a:off x="10058400" y="3346704"/>
            <a:ext cx="1417320" cy="502920"/>
          </a:xfrm>
          <a:prstGeom prst="rect">
            <a:avLst/>
          </a:prstGeom>
          <a:noFill/>
          <a:ln/>
        </p:spPr>
        <p:txBody>
          <a:bodyPr wrap="square" lIns="0" tIns="0" rIns="0" bIns="0" rtlCol="0" anchor="ctr"/>
          <a:lstStyle/>
          <a:p>
            <a:pPr marL="0" indent="0">
              <a:lnSpc>
                <a:spcPct val="110000"/>
              </a:lnSpc>
              <a:buNone/>
            </a:pPr>
            <a:r>
              <a:rPr lang="en-US" sz="900" dirty="0">
                <a:solidFill>
                  <a:srgbClr val="667085"/>
                </a:solidFill>
                <a:latin typeface="Calibri" pitchFamily="34" charset="0"/>
                <a:ea typeface="Calibri" pitchFamily="34" charset="-122"/>
                <a:cs typeface="Calibri" pitchFamily="34" charset="-120"/>
              </a:rPr>
              <a:t>Taxi operator / company</a:t>
            </a:r>
            <a:endParaRPr lang="en-US" sz="900" dirty="0"/>
          </a:p>
        </p:txBody>
      </p:sp>
      <p:sp>
        <p:nvSpPr>
          <p:cNvPr id="37" name="Shape 31"/>
          <p:cNvSpPr/>
          <p:nvPr/>
        </p:nvSpPr>
        <p:spPr>
          <a:xfrm>
            <a:off x="4434840" y="4846320"/>
            <a:ext cx="3291840" cy="960120"/>
          </a:xfrm>
          <a:prstGeom prst="roundRect">
            <a:avLst>
              <a:gd name="adj" fmla="val 6667"/>
            </a:avLst>
          </a:prstGeom>
          <a:solidFill>
            <a:srgbClr val="F7F8FC"/>
          </a:solidFill>
          <a:ln w="12700">
            <a:solidFill>
              <a:srgbClr val="E3E7F1"/>
            </a:solidFill>
            <a:prstDash val="solid"/>
          </a:ln>
        </p:spPr>
        <p:txBody>
          <a:bodyPr/>
          <a:lstStyle/>
          <a:p>
            <a:endParaRPr lang="en-US"/>
          </a:p>
        </p:txBody>
      </p:sp>
      <p:sp>
        <p:nvSpPr>
          <p:cNvPr id="38" name="Shape 32"/>
          <p:cNvSpPr/>
          <p:nvPr/>
        </p:nvSpPr>
        <p:spPr>
          <a:xfrm>
            <a:off x="4617720" y="5097780"/>
            <a:ext cx="457200" cy="457200"/>
          </a:xfrm>
          <a:prstGeom prst="ellipse">
            <a:avLst/>
          </a:prstGeom>
          <a:solidFill>
            <a:srgbClr val="24316E"/>
          </a:solidFill>
          <a:ln/>
        </p:spPr>
        <p:txBody>
          <a:bodyPr/>
          <a:lstStyle/>
          <a:p>
            <a:endParaRPr lang="en-US"/>
          </a:p>
        </p:txBody>
      </p:sp>
      <p:pic>
        <p:nvPicPr>
          <p:cNvPr id="39" name="Image 4" descr="icon_mappin_w.png"/>
          <p:cNvPicPr>
            <a:picLocks noChangeAspect="1"/>
          </p:cNvPicPr>
          <p:nvPr/>
        </p:nvPicPr>
        <p:blipFill>
          <a:blip r:embed="rId6"/>
          <a:stretch>
            <a:fillRect/>
          </a:stretch>
        </p:blipFill>
        <p:spPr>
          <a:xfrm>
            <a:off x="4727448" y="5207508"/>
            <a:ext cx="237744" cy="237744"/>
          </a:xfrm>
          <a:prstGeom prst="rect">
            <a:avLst/>
          </a:prstGeom>
        </p:spPr>
      </p:pic>
      <p:sp>
        <p:nvSpPr>
          <p:cNvPr id="40" name="Text 33"/>
          <p:cNvSpPr txBox="1"/>
          <p:nvPr/>
        </p:nvSpPr>
        <p:spPr>
          <a:xfrm>
            <a:off x="5166360" y="4937760"/>
            <a:ext cx="242316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DimCommunityArea</a:t>
            </a:r>
            <a:endParaRPr lang="en-US" sz="1250" dirty="0"/>
          </a:p>
        </p:txBody>
      </p:sp>
      <p:sp>
        <p:nvSpPr>
          <p:cNvPr id="41" name="Text 34"/>
          <p:cNvSpPr txBox="1"/>
          <p:nvPr/>
        </p:nvSpPr>
        <p:spPr>
          <a:xfrm>
            <a:off x="5166360" y="5221224"/>
            <a:ext cx="2423160" cy="502920"/>
          </a:xfrm>
          <a:prstGeom prst="rect">
            <a:avLst/>
          </a:prstGeom>
          <a:noFill/>
          <a:ln/>
        </p:spPr>
        <p:txBody>
          <a:bodyPr wrap="square" lIns="0" tIns="0" rIns="0" bIns="0" rtlCol="0" anchor="ctr"/>
          <a:lstStyle/>
          <a:p>
            <a:pPr marL="0" indent="0">
              <a:lnSpc>
                <a:spcPct val="110000"/>
              </a:lnSpc>
              <a:buNone/>
            </a:pPr>
            <a:r>
              <a:rPr lang="en-US" sz="900" dirty="0">
                <a:solidFill>
                  <a:srgbClr val="667085"/>
                </a:solidFill>
                <a:latin typeface="Calibri" pitchFamily="34" charset="0"/>
                <a:ea typeface="Calibri" pitchFamily="34" charset="-122"/>
                <a:cs typeface="Calibri" pitchFamily="34" charset="-120"/>
              </a:rPr>
              <a:t>Chicago community areas — serves both Pickup and Dropoff roles</a:t>
            </a:r>
            <a:endParaRPr lang="en-US" sz="900" dirty="0"/>
          </a:p>
        </p:txBody>
      </p:sp>
      <p:sp>
        <p:nvSpPr>
          <p:cNvPr id="42" name="Text 35"/>
          <p:cNvSpPr txBox="1"/>
          <p:nvPr/>
        </p:nvSpPr>
        <p:spPr>
          <a:xfrm>
            <a:off x="548640" y="6035040"/>
            <a:ext cx="11064240" cy="36576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Pickup is the active relationship; Dropoff is activated only inside destination measures via USERELATIONSHIP() — so one Community Area dimension safely serves two roles without ambiguous filtering.</a:t>
            </a:r>
            <a:endParaRPr lang="en-US" sz="1000" dirty="0"/>
          </a:p>
        </p:txBody>
      </p:sp>
      <p:sp>
        <p:nvSpPr>
          <p:cNvPr id="43" name="Shape 36"/>
          <p:cNvSpPr/>
          <p:nvPr/>
        </p:nvSpPr>
        <p:spPr>
          <a:xfrm>
            <a:off x="548640" y="6473952"/>
            <a:ext cx="11091672" cy="0"/>
          </a:xfrm>
          <a:prstGeom prst="line">
            <a:avLst/>
          </a:prstGeom>
          <a:noFill/>
          <a:ln w="9525">
            <a:solidFill>
              <a:srgbClr val="E3E7F1"/>
            </a:solidFill>
            <a:prstDash val="solid"/>
          </a:ln>
        </p:spPr>
        <p:txBody>
          <a:bodyPr/>
          <a:lstStyle/>
          <a:p>
            <a:endParaRPr lang="en-US"/>
          </a:p>
        </p:txBody>
      </p:sp>
      <p:sp>
        <p:nvSpPr>
          <p:cNvPr id="44" name="Text 37"/>
          <p:cNvSpPr txBox="1"/>
          <p:nvPr/>
        </p:nvSpPr>
        <p:spPr>
          <a:xfrm>
            <a:off x="548640" y="6510528"/>
            <a:ext cx="8686800" cy="274320"/>
          </a:xfrm>
          <a:prstGeom prst="rect">
            <a:avLst/>
          </a:prstGeom>
          <a:noFill/>
          <a:ln/>
        </p:spPr>
        <p:txBody>
          <a:bodyPr wrap="square" lIns="0" tIns="0" rIns="0" bIns="0" rtlCol="0" anchor="ctr"/>
          <a:lstStyle/>
          <a:p>
            <a:pPr marL="0" indent="0">
              <a:buNone/>
            </a:pPr>
            <a:r>
              <a:rPr lang="en-US" sz="850" dirty="0">
                <a:solidFill>
                  <a:srgbClr val="98A2B3"/>
                </a:solidFill>
                <a:latin typeface="Calibri" pitchFamily="34" charset="0"/>
                <a:ea typeface="Calibri" pitchFamily="34" charset="-122"/>
                <a:cs typeface="Calibri" pitchFamily="34" charset="-120"/>
              </a:rPr>
              <a:t>SOS ALPHA SQUAD 4  |  CHICAGO TAXI POWER BI PROJECT</a:t>
            </a:r>
            <a:endParaRPr lang="en-US" sz="850" dirty="0"/>
          </a:p>
        </p:txBody>
      </p:sp>
      <p:sp>
        <p:nvSpPr>
          <p:cNvPr id="45" name="Text 38"/>
          <p:cNvSpPr txBox="1"/>
          <p:nvPr/>
        </p:nvSpPr>
        <p:spPr>
          <a:xfrm>
            <a:off x="11183112" y="6492240"/>
            <a:ext cx="457200" cy="292608"/>
          </a:xfrm>
          <a:prstGeom prst="rect">
            <a:avLst/>
          </a:prstGeom>
          <a:noFill/>
          <a:ln/>
        </p:spPr>
        <p:txBody>
          <a:bodyPr wrap="square" lIns="0" tIns="0" rIns="0" bIns="0" rtlCol="0" anchor="ctr"/>
          <a:lstStyle/>
          <a:p>
            <a:pPr marL="0" indent="0" algn="r">
              <a:buNone/>
            </a:pPr>
            <a:r>
              <a:rPr lang="en-US" sz="1000" b="1" dirty="0">
                <a:solidFill>
                  <a:srgbClr val="1E2761"/>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292608"/>
          </a:xfrm>
          <a:prstGeom prst="rect">
            <a:avLst/>
          </a:prstGeom>
          <a:noFill/>
          <a:ln/>
        </p:spPr>
        <p:txBody>
          <a:bodyPr wrap="square" lIns="0" tIns="0" rIns="0" bIns="0" rtlCol="0" anchor="ctr"/>
          <a:lstStyle/>
          <a:p>
            <a:pPr marL="0" indent="0">
              <a:buNone/>
            </a:pPr>
            <a:r>
              <a:rPr lang="en-US" sz="1250" b="1" kern="0" spc="200" dirty="0">
                <a:solidFill>
                  <a:srgbClr val="C97F0E"/>
                </a:solidFill>
                <a:latin typeface="Calibri" pitchFamily="34" charset="0"/>
                <a:ea typeface="Calibri" pitchFamily="34" charset="-122"/>
                <a:cs typeface="Calibri" pitchFamily="34" charset="-120"/>
              </a:rPr>
              <a:t>06  WHAT THE DATA REVEALS</a:t>
            </a:r>
            <a:endParaRPr lang="en-US" sz="1250" dirty="0"/>
          </a:p>
        </p:txBody>
      </p:sp>
      <p:sp>
        <p:nvSpPr>
          <p:cNvPr id="3" name="Text 1"/>
          <p:cNvSpPr txBox="1"/>
          <p:nvPr/>
        </p:nvSpPr>
        <p:spPr>
          <a:xfrm>
            <a:off x="548640" y="694944"/>
            <a:ext cx="10789920" cy="566928"/>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Three Findings, Three Actions For Decision Makers</a:t>
            </a:r>
            <a:endParaRPr lang="en-US" sz="2900" dirty="0"/>
          </a:p>
        </p:txBody>
      </p:sp>
      <p:sp>
        <p:nvSpPr>
          <p:cNvPr id="4" name="Text 2"/>
          <p:cNvSpPr txBox="1"/>
          <p:nvPr/>
        </p:nvSpPr>
        <p:spPr>
          <a:xfrm>
            <a:off x="548640" y="1225296"/>
            <a:ext cx="10789920" cy="329184"/>
          </a:xfrm>
          <a:prstGeom prst="rect">
            <a:avLst/>
          </a:prstGeom>
          <a:noFill/>
          <a:ln/>
        </p:spPr>
        <p:txBody>
          <a:bodyPr wrap="square" lIns="0" tIns="0" rIns="0" bIns="0" rtlCol="0" anchor="ctr"/>
          <a:lstStyle/>
          <a:p>
            <a:pPr marL="0" indent="0">
              <a:buNone/>
            </a:pPr>
            <a:r>
              <a:rPr lang="en-US" sz="1350" i="1" dirty="0">
                <a:solidFill>
                  <a:srgbClr val="667085"/>
                </a:solidFill>
                <a:latin typeface="Calibri" pitchFamily="34" charset="0"/>
                <a:ea typeface="Calibri" pitchFamily="34" charset="-122"/>
                <a:cs typeface="Calibri" pitchFamily="34" charset="-120"/>
              </a:rPr>
              <a:t>Complementary insights spanning operations, geography, and market structure</a:t>
            </a:r>
            <a:endParaRPr lang="en-US" sz="1350" dirty="0"/>
          </a:p>
        </p:txBody>
      </p:sp>
      <p:sp>
        <p:nvSpPr>
          <p:cNvPr id="5" name="Shape 3"/>
          <p:cNvSpPr/>
          <p:nvPr/>
        </p:nvSpPr>
        <p:spPr>
          <a:xfrm>
            <a:off x="548640" y="1783080"/>
            <a:ext cx="3545129" cy="3794760"/>
          </a:xfrm>
          <a:prstGeom prst="roundRect">
            <a:avLst>
              <a:gd name="adj" fmla="val 2063"/>
            </a:avLst>
          </a:prstGeom>
          <a:solidFill>
            <a:srgbClr val="F7F8FC"/>
          </a:solidFill>
          <a:ln/>
        </p:spPr>
        <p:txBody>
          <a:bodyPr/>
          <a:lstStyle/>
          <a:p>
            <a:endParaRPr lang="en-US"/>
          </a:p>
        </p:txBody>
      </p:sp>
      <p:sp>
        <p:nvSpPr>
          <p:cNvPr id="6" name="Shape 4"/>
          <p:cNvSpPr/>
          <p:nvPr/>
        </p:nvSpPr>
        <p:spPr>
          <a:xfrm>
            <a:off x="731520" y="1920240"/>
            <a:ext cx="548640" cy="548640"/>
          </a:xfrm>
          <a:prstGeom prst="ellipse">
            <a:avLst/>
          </a:prstGeom>
          <a:solidFill>
            <a:srgbClr val="1E2761"/>
          </a:solidFill>
          <a:ln/>
        </p:spPr>
        <p:txBody>
          <a:bodyPr/>
          <a:lstStyle/>
          <a:p>
            <a:endParaRPr lang="en-US"/>
          </a:p>
        </p:txBody>
      </p:sp>
      <p:pic>
        <p:nvPicPr>
          <p:cNvPr id="7" name="Image 0" descr="icon_clock_w.png"/>
          <p:cNvPicPr>
            <a:picLocks noChangeAspect="1"/>
          </p:cNvPicPr>
          <p:nvPr/>
        </p:nvPicPr>
        <p:blipFill>
          <a:blip r:embed="rId3"/>
          <a:stretch>
            <a:fillRect/>
          </a:stretch>
        </p:blipFill>
        <p:spPr>
          <a:xfrm>
            <a:off x="863194" y="2051914"/>
            <a:ext cx="285293" cy="285293"/>
          </a:xfrm>
          <a:prstGeom prst="rect">
            <a:avLst/>
          </a:prstGeom>
        </p:spPr>
      </p:pic>
      <p:sp>
        <p:nvSpPr>
          <p:cNvPr id="8" name="Text 5"/>
          <p:cNvSpPr txBox="1"/>
          <p:nvPr/>
        </p:nvSpPr>
        <p:spPr>
          <a:xfrm>
            <a:off x="1371600" y="1947672"/>
            <a:ext cx="2539289" cy="219456"/>
          </a:xfrm>
          <a:prstGeom prst="rect">
            <a:avLst/>
          </a:prstGeom>
          <a:noFill/>
          <a:ln/>
        </p:spPr>
        <p:txBody>
          <a:bodyPr wrap="square" lIns="0" tIns="0" rIns="0" bIns="0" rtlCol="0" anchor="ctr"/>
          <a:lstStyle/>
          <a:p>
            <a:pPr marL="0" indent="0">
              <a:buNone/>
            </a:pPr>
            <a:r>
              <a:rPr lang="en-US" sz="950" b="1" kern="0" spc="150" dirty="0">
                <a:solidFill>
                  <a:srgbClr val="C97F0E"/>
                </a:solidFill>
                <a:latin typeface="Calibri" pitchFamily="34" charset="0"/>
                <a:ea typeface="Calibri" pitchFamily="34" charset="-122"/>
                <a:cs typeface="Calibri" pitchFamily="34" charset="-120"/>
              </a:rPr>
              <a:t>OPERATIONS</a:t>
            </a:r>
            <a:endParaRPr lang="en-US" sz="950" dirty="0"/>
          </a:p>
        </p:txBody>
      </p:sp>
      <p:sp>
        <p:nvSpPr>
          <p:cNvPr id="9" name="Text 6"/>
          <p:cNvSpPr txBox="1"/>
          <p:nvPr/>
        </p:nvSpPr>
        <p:spPr>
          <a:xfrm>
            <a:off x="1371600" y="2167128"/>
            <a:ext cx="2539289" cy="457200"/>
          </a:xfrm>
          <a:prstGeom prst="rect">
            <a:avLst/>
          </a:prstGeom>
          <a:noFill/>
          <a:ln/>
        </p:spPr>
        <p:txBody>
          <a:bodyPr wrap="square" lIns="0" tIns="0" rIns="0" bIns="0" rtlCol="0" anchor="ctr"/>
          <a:lstStyle/>
          <a:p>
            <a:pPr marL="0" indent="0">
              <a:lnSpc>
                <a:spcPct val="105000"/>
              </a:lnSpc>
              <a:buNone/>
            </a:pPr>
            <a:r>
              <a:rPr lang="en-US" sz="1350" b="1" dirty="0">
                <a:solidFill>
                  <a:srgbClr val="1E2761"/>
                </a:solidFill>
                <a:latin typeface="Cambria" pitchFamily="34" charset="0"/>
                <a:ea typeface="Cambria" pitchFamily="34" charset="-122"/>
                <a:cs typeface="Cambria" pitchFamily="34" charset="-120"/>
              </a:rPr>
              <a:t>Demand Is Sharply Time-Bound</a:t>
            </a:r>
            <a:endParaRPr lang="en-US" sz="1350" dirty="0"/>
          </a:p>
        </p:txBody>
      </p:sp>
      <p:sp>
        <p:nvSpPr>
          <p:cNvPr id="10" name="Shape 7"/>
          <p:cNvSpPr/>
          <p:nvPr/>
        </p:nvSpPr>
        <p:spPr>
          <a:xfrm>
            <a:off x="749808" y="2697480"/>
            <a:ext cx="3142793" cy="1115568"/>
          </a:xfrm>
          <a:prstGeom prst="roundRect">
            <a:avLst>
              <a:gd name="adj" fmla="val 4098"/>
            </a:avLst>
          </a:prstGeom>
          <a:solidFill>
            <a:srgbClr val="FFFFFF"/>
          </a:solidFill>
          <a:ln w="12700">
            <a:solidFill>
              <a:srgbClr val="E3E7F1"/>
            </a:solidFill>
            <a:prstDash val="solid"/>
          </a:ln>
        </p:spPr>
        <p:txBody>
          <a:bodyPr/>
          <a:lstStyle/>
          <a:p>
            <a:endParaRPr lang="en-US"/>
          </a:p>
        </p:txBody>
      </p:sp>
      <p:pic>
        <p:nvPicPr>
          <p:cNvPr id="11" name="Image 1" descr="crop_shift.jpg"/>
          <p:cNvPicPr>
            <a:picLocks noChangeAspect="1"/>
          </p:cNvPicPr>
          <p:nvPr/>
        </p:nvPicPr>
        <p:blipFill>
          <a:blip r:embed="rId4"/>
          <a:srcRect/>
          <a:stretch/>
        </p:blipFill>
        <p:spPr>
          <a:xfrm>
            <a:off x="795528" y="2743200"/>
            <a:ext cx="3051353" cy="1024128"/>
          </a:xfrm>
          <a:prstGeom prst="rect">
            <a:avLst/>
          </a:prstGeom>
        </p:spPr>
      </p:pic>
      <p:sp>
        <p:nvSpPr>
          <p:cNvPr id="12" name="Text 8"/>
          <p:cNvSpPr txBox="1"/>
          <p:nvPr/>
        </p:nvSpPr>
        <p:spPr>
          <a:xfrm>
            <a:off x="749808" y="3922776"/>
            <a:ext cx="3142793" cy="868680"/>
          </a:xfrm>
          <a:prstGeom prst="rect">
            <a:avLst/>
          </a:prstGeom>
          <a:noFill/>
          <a:ln/>
        </p:spPr>
        <p:txBody>
          <a:bodyPr wrap="square" lIns="0" tIns="0" rIns="0" bIns="0" rtlCol="0" anchor="ctr"/>
          <a:lstStyle/>
          <a:p>
            <a:pPr marL="0" indent="0">
              <a:lnSpc>
                <a:spcPct val="120000"/>
              </a:lnSpc>
              <a:buNone/>
            </a:pPr>
            <a:r>
              <a:rPr lang="en-US" sz="1030" dirty="0">
                <a:solidFill>
                  <a:srgbClr val="20233A"/>
                </a:solidFill>
                <a:latin typeface="Calibri" pitchFamily="34" charset="0"/>
                <a:ea typeface="Calibri" pitchFamily="34" charset="-122"/>
                <a:cs typeface="Calibri" pitchFamily="34" charset="-120"/>
              </a:rPr>
              <a:t>The Day shift alone carries ~120K of 268K trips — nearly 45% of activity, more than triple the Night shift.</a:t>
            </a:r>
            <a:endParaRPr lang="en-US" sz="1030" dirty="0"/>
          </a:p>
        </p:txBody>
      </p:sp>
      <p:sp>
        <p:nvSpPr>
          <p:cNvPr id="13" name="Shape 9"/>
          <p:cNvSpPr/>
          <p:nvPr/>
        </p:nvSpPr>
        <p:spPr>
          <a:xfrm>
            <a:off x="749808" y="4736592"/>
            <a:ext cx="3142793" cy="713232"/>
          </a:xfrm>
          <a:prstGeom prst="roundRect">
            <a:avLst>
              <a:gd name="adj" fmla="val 7692"/>
            </a:avLst>
          </a:prstGeom>
          <a:solidFill>
            <a:srgbClr val="1E2761"/>
          </a:solidFill>
          <a:ln/>
        </p:spPr>
        <p:txBody>
          <a:bodyPr/>
          <a:lstStyle/>
          <a:p>
            <a:endParaRPr lang="en-US"/>
          </a:p>
        </p:txBody>
      </p:sp>
      <p:sp>
        <p:nvSpPr>
          <p:cNvPr id="14" name="Text 10"/>
          <p:cNvSpPr txBox="1"/>
          <p:nvPr/>
        </p:nvSpPr>
        <p:spPr>
          <a:xfrm>
            <a:off x="896112" y="4800600"/>
            <a:ext cx="2850185" cy="182880"/>
          </a:xfrm>
          <a:prstGeom prst="rect">
            <a:avLst/>
          </a:prstGeom>
          <a:noFill/>
          <a:ln/>
        </p:spPr>
        <p:txBody>
          <a:bodyPr wrap="square" lIns="0" tIns="0" rIns="0" bIns="0" rtlCol="0" anchor="ctr"/>
          <a:lstStyle/>
          <a:p>
            <a:pPr marL="0" indent="0">
              <a:buNone/>
            </a:pPr>
            <a:r>
              <a:rPr lang="en-US" sz="800" b="1" kern="0" spc="120" dirty="0">
                <a:solidFill>
                  <a:srgbClr val="F5A623"/>
                </a:solidFill>
                <a:latin typeface="Calibri" pitchFamily="34" charset="0"/>
                <a:ea typeface="Calibri" pitchFamily="34" charset="-122"/>
                <a:cs typeface="Calibri" pitchFamily="34" charset="-120"/>
              </a:rPr>
              <a:t>RECOMMENDATION</a:t>
            </a:r>
            <a:endParaRPr lang="en-US" sz="800" dirty="0"/>
          </a:p>
        </p:txBody>
      </p:sp>
      <p:sp>
        <p:nvSpPr>
          <p:cNvPr id="15" name="Text 11"/>
          <p:cNvSpPr txBox="1"/>
          <p:nvPr/>
        </p:nvSpPr>
        <p:spPr>
          <a:xfrm>
            <a:off x="896112" y="5001768"/>
            <a:ext cx="2850185" cy="502920"/>
          </a:xfrm>
          <a:prstGeom prst="rect">
            <a:avLst/>
          </a:prstGeom>
          <a:noFill/>
          <a:ln/>
        </p:spPr>
        <p:txBody>
          <a:bodyPr wrap="square" lIns="0" tIns="0" rIns="0" bIns="0" rtlCol="0" anchor="ctr"/>
          <a:lstStyle/>
          <a:p>
            <a:pPr marL="0" indent="0">
              <a:lnSpc>
                <a:spcPct val="112000"/>
              </a:lnSpc>
              <a:buNone/>
            </a:pPr>
            <a:r>
              <a:rPr lang="en-US" sz="970" dirty="0">
                <a:solidFill>
                  <a:srgbClr val="FFFFFF"/>
                </a:solidFill>
                <a:latin typeface="Calibri" pitchFamily="34" charset="0"/>
                <a:ea typeface="Calibri" pitchFamily="34" charset="-122"/>
                <a:cs typeface="Calibri" pitchFamily="34" charset="-120"/>
              </a:rPr>
              <a:t>Prioritize vehicle &amp; driver availability during Day and Evening Rush windows.</a:t>
            </a:r>
            <a:endParaRPr lang="en-US" sz="970" dirty="0"/>
          </a:p>
        </p:txBody>
      </p:sp>
      <p:sp>
        <p:nvSpPr>
          <p:cNvPr id="16" name="Shape 12"/>
          <p:cNvSpPr/>
          <p:nvPr/>
        </p:nvSpPr>
        <p:spPr>
          <a:xfrm>
            <a:off x="4313225" y="1783080"/>
            <a:ext cx="3545129" cy="3794760"/>
          </a:xfrm>
          <a:prstGeom prst="roundRect">
            <a:avLst>
              <a:gd name="adj" fmla="val 2063"/>
            </a:avLst>
          </a:prstGeom>
          <a:solidFill>
            <a:srgbClr val="F7F8FC"/>
          </a:solidFill>
          <a:ln/>
        </p:spPr>
        <p:txBody>
          <a:bodyPr/>
          <a:lstStyle/>
          <a:p>
            <a:endParaRPr lang="en-US"/>
          </a:p>
        </p:txBody>
      </p:sp>
      <p:sp>
        <p:nvSpPr>
          <p:cNvPr id="17" name="Shape 13"/>
          <p:cNvSpPr/>
          <p:nvPr/>
        </p:nvSpPr>
        <p:spPr>
          <a:xfrm>
            <a:off x="4496105" y="1920240"/>
            <a:ext cx="548640" cy="548640"/>
          </a:xfrm>
          <a:prstGeom prst="ellipse">
            <a:avLst/>
          </a:prstGeom>
          <a:solidFill>
            <a:srgbClr val="1E2761"/>
          </a:solidFill>
          <a:ln/>
        </p:spPr>
        <p:txBody>
          <a:bodyPr/>
          <a:lstStyle/>
          <a:p>
            <a:endParaRPr lang="en-US"/>
          </a:p>
        </p:txBody>
      </p:sp>
      <p:pic>
        <p:nvPicPr>
          <p:cNvPr id="18" name="Image 2" descr="icon_mappin_w.png"/>
          <p:cNvPicPr>
            <a:picLocks noChangeAspect="1"/>
          </p:cNvPicPr>
          <p:nvPr/>
        </p:nvPicPr>
        <p:blipFill>
          <a:blip r:embed="rId5"/>
          <a:stretch>
            <a:fillRect/>
          </a:stretch>
        </p:blipFill>
        <p:spPr>
          <a:xfrm>
            <a:off x="4627778" y="2051914"/>
            <a:ext cx="285293" cy="285293"/>
          </a:xfrm>
          <a:prstGeom prst="rect">
            <a:avLst/>
          </a:prstGeom>
        </p:spPr>
      </p:pic>
      <p:sp>
        <p:nvSpPr>
          <p:cNvPr id="19" name="Text 14"/>
          <p:cNvSpPr txBox="1"/>
          <p:nvPr/>
        </p:nvSpPr>
        <p:spPr>
          <a:xfrm>
            <a:off x="5136185" y="1947672"/>
            <a:ext cx="2539289" cy="219456"/>
          </a:xfrm>
          <a:prstGeom prst="rect">
            <a:avLst/>
          </a:prstGeom>
          <a:noFill/>
          <a:ln/>
        </p:spPr>
        <p:txBody>
          <a:bodyPr wrap="square" lIns="0" tIns="0" rIns="0" bIns="0" rtlCol="0" anchor="ctr"/>
          <a:lstStyle/>
          <a:p>
            <a:pPr marL="0" indent="0">
              <a:buNone/>
            </a:pPr>
            <a:r>
              <a:rPr lang="en-US" sz="950" b="1" kern="0" spc="150" dirty="0">
                <a:solidFill>
                  <a:srgbClr val="C97F0E"/>
                </a:solidFill>
                <a:latin typeface="Calibri" pitchFamily="34" charset="0"/>
                <a:ea typeface="Calibri" pitchFamily="34" charset="-122"/>
                <a:cs typeface="Calibri" pitchFamily="34" charset="-120"/>
              </a:rPr>
              <a:t>TRAVEL</a:t>
            </a:r>
            <a:endParaRPr lang="en-US" sz="950" dirty="0"/>
          </a:p>
        </p:txBody>
      </p:sp>
      <p:sp>
        <p:nvSpPr>
          <p:cNvPr id="20" name="Text 15"/>
          <p:cNvSpPr txBox="1"/>
          <p:nvPr/>
        </p:nvSpPr>
        <p:spPr>
          <a:xfrm>
            <a:off x="5136185" y="2167128"/>
            <a:ext cx="2539289" cy="457200"/>
          </a:xfrm>
          <a:prstGeom prst="rect">
            <a:avLst/>
          </a:prstGeom>
          <a:noFill/>
          <a:ln/>
        </p:spPr>
        <p:txBody>
          <a:bodyPr wrap="square" lIns="0" tIns="0" rIns="0" bIns="0" rtlCol="0" anchor="ctr"/>
          <a:lstStyle/>
          <a:p>
            <a:pPr marL="0" indent="0">
              <a:lnSpc>
                <a:spcPct val="105000"/>
              </a:lnSpc>
              <a:buNone/>
            </a:pPr>
            <a:r>
              <a:rPr lang="en-US" sz="1350" b="1" dirty="0">
                <a:solidFill>
                  <a:srgbClr val="1E2761"/>
                </a:solidFill>
                <a:latin typeface="Cambria" pitchFamily="34" charset="0"/>
                <a:ea typeface="Cambria" pitchFamily="34" charset="-122"/>
                <a:cs typeface="Cambria" pitchFamily="34" charset="-120"/>
              </a:rPr>
              <a:t>Near North Side Is A Two-Way Hub</a:t>
            </a:r>
            <a:endParaRPr lang="en-US" sz="1350" dirty="0"/>
          </a:p>
        </p:txBody>
      </p:sp>
      <p:sp>
        <p:nvSpPr>
          <p:cNvPr id="21" name="Shape 16"/>
          <p:cNvSpPr/>
          <p:nvPr/>
        </p:nvSpPr>
        <p:spPr>
          <a:xfrm>
            <a:off x="4514393" y="2697480"/>
            <a:ext cx="3142793" cy="1115568"/>
          </a:xfrm>
          <a:prstGeom prst="roundRect">
            <a:avLst>
              <a:gd name="adj" fmla="val 4098"/>
            </a:avLst>
          </a:prstGeom>
          <a:solidFill>
            <a:srgbClr val="FFFFFF"/>
          </a:solidFill>
          <a:ln w="12700">
            <a:solidFill>
              <a:srgbClr val="E3E7F1"/>
            </a:solidFill>
            <a:prstDash val="solid"/>
          </a:ln>
        </p:spPr>
        <p:txBody>
          <a:bodyPr/>
          <a:lstStyle/>
          <a:p>
            <a:endParaRPr lang="en-US"/>
          </a:p>
        </p:txBody>
      </p:sp>
      <p:pic>
        <p:nvPicPr>
          <p:cNvPr id="22" name="Image 3" descr="crop_pickup_only.jpg"/>
          <p:cNvPicPr>
            <a:picLocks noChangeAspect="1"/>
          </p:cNvPicPr>
          <p:nvPr/>
        </p:nvPicPr>
        <p:blipFill>
          <a:blip r:embed="rId6"/>
          <a:srcRect/>
          <a:stretch/>
        </p:blipFill>
        <p:spPr>
          <a:xfrm>
            <a:off x="4560113" y="2743200"/>
            <a:ext cx="3051353" cy="1024128"/>
          </a:xfrm>
          <a:prstGeom prst="rect">
            <a:avLst/>
          </a:prstGeom>
        </p:spPr>
      </p:pic>
      <p:sp>
        <p:nvSpPr>
          <p:cNvPr id="23" name="Text 17"/>
          <p:cNvSpPr txBox="1"/>
          <p:nvPr/>
        </p:nvSpPr>
        <p:spPr>
          <a:xfrm>
            <a:off x="4514393" y="3922776"/>
            <a:ext cx="3142793" cy="868680"/>
          </a:xfrm>
          <a:prstGeom prst="rect">
            <a:avLst/>
          </a:prstGeom>
          <a:noFill/>
          <a:ln/>
        </p:spPr>
        <p:txBody>
          <a:bodyPr wrap="square" lIns="0" tIns="0" rIns="0" bIns="0" rtlCol="0" anchor="ctr"/>
          <a:lstStyle/>
          <a:p>
            <a:pPr marL="0" indent="0">
              <a:lnSpc>
                <a:spcPct val="120000"/>
              </a:lnSpc>
              <a:buNone/>
            </a:pPr>
            <a:r>
              <a:rPr lang="en-US" sz="1030" dirty="0">
                <a:solidFill>
                  <a:srgbClr val="20233A"/>
                </a:solidFill>
                <a:latin typeface="Calibri" pitchFamily="34" charset="0"/>
                <a:ea typeface="Calibri" pitchFamily="34" charset="-122"/>
                <a:cs typeface="Calibri" pitchFamily="34" charset="-120"/>
              </a:rPr>
              <a:t>Near North Side ranks #1 for both pickups and drop-offs, ahead of O’Hare and the Loop for reasons like high touristic activity.</a:t>
            </a:r>
            <a:endParaRPr lang="en-US" sz="1030" dirty="0"/>
          </a:p>
        </p:txBody>
      </p:sp>
      <p:sp>
        <p:nvSpPr>
          <p:cNvPr id="24" name="Shape 18"/>
          <p:cNvSpPr/>
          <p:nvPr/>
        </p:nvSpPr>
        <p:spPr>
          <a:xfrm>
            <a:off x="4514393" y="4736592"/>
            <a:ext cx="3142793" cy="713232"/>
          </a:xfrm>
          <a:prstGeom prst="roundRect">
            <a:avLst>
              <a:gd name="adj" fmla="val 7692"/>
            </a:avLst>
          </a:prstGeom>
          <a:solidFill>
            <a:srgbClr val="1E2761"/>
          </a:solidFill>
          <a:ln/>
        </p:spPr>
        <p:txBody>
          <a:bodyPr/>
          <a:lstStyle/>
          <a:p>
            <a:endParaRPr lang="en-US"/>
          </a:p>
        </p:txBody>
      </p:sp>
      <p:sp>
        <p:nvSpPr>
          <p:cNvPr id="25" name="Text 19"/>
          <p:cNvSpPr txBox="1"/>
          <p:nvPr/>
        </p:nvSpPr>
        <p:spPr>
          <a:xfrm>
            <a:off x="4660697" y="4800600"/>
            <a:ext cx="2850185" cy="182880"/>
          </a:xfrm>
          <a:prstGeom prst="rect">
            <a:avLst/>
          </a:prstGeom>
          <a:noFill/>
          <a:ln/>
        </p:spPr>
        <p:txBody>
          <a:bodyPr wrap="square" lIns="0" tIns="0" rIns="0" bIns="0" rtlCol="0" anchor="ctr"/>
          <a:lstStyle/>
          <a:p>
            <a:pPr marL="0" indent="0">
              <a:buNone/>
            </a:pPr>
            <a:r>
              <a:rPr lang="en-US" sz="800" b="1" kern="0" spc="120" dirty="0">
                <a:solidFill>
                  <a:srgbClr val="F5A623"/>
                </a:solidFill>
                <a:latin typeface="Calibri" pitchFamily="34" charset="0"/>
                <a:ea typeface="Calibri" pitchFamily="34" charset="-122"/>
                <a:cs typeface="Calibri" pitchFamily="34" charset="-120"/>
              </a:rPr>
              <a:t>RECOMMENDATION</a:t>
            </a:r>
            <a:endParaRPr lang="en-US" sz="800" dirty="0"/>
          </a:p>
        </p:txBody>
      </p:sp>
      <p:sp>
        <p:nvSpPr>
          <p:cNvPr id="26" name="Text 20"/>
          <p:cNvSpPr txBox="1"/>
          <p:nvPr/>
        </p:nvSpPr>
        <p:spPr>
          <a:xfrm>
            <a:off x="4660697" y="5001768"/>
            <a:ext cx="2850185" cy="502920"/>
          </a:xfrm>
          <a:prstGeom prst="rect">
            <a:avLst/>
          </a:prstGeom>
          <a:noFill/>
          <a:ln/>
        </p:spPr>
        <p:txBody>
          <a:bodyPr wrap="square" lIns="0" tIns="0" rIns="0" bIns="0" rtlCol="0" anchor="ctr"/>
          <a:lstStyle/>
          <a:p>
            <a:pPr marL="0" indent="0">
              <a:lnSpc>
                <a:spcPct val="112000"/>
              </a:lnSpc>
              <a:buNone/>
            </a:pPr>
            <a:r>
              <a:rPr lang="en-US" sz="970" dirty="0">
                <a:solidFill>
                  <a:srgbClr val="FFFFFF"/>
                </a:solidFill>
                <a:latin typeface="Calibri" pitchFamily="34" charset="0"/>
                <a:ea typeface="Calibri" pitchFamily="34" charset="-122"/>
                <a:cs typeface="Calibri" pitchFamily="34" charset="-120"/>
              </a:rPr>
              <a:t>Create dedicated staging areas near Near North Side, the Loop, and O’Hare with strong curb access.</a:t>
            </a:r>
            <a:endParaRPr lang="en-US" sz="970" dirty="0"/>
          </a:p>
        </p:txBody>
      </p:sp>
      <p:sp>
        <p:nvSpPr>
          <p:cNvPr id="27" name="Shape 21"/>
          <p:cNvSpPr/>
          <p:nvPr/>
        </p:nvSpPr>
        <p:spPr>
          <a:xfrm>
            <a:off x="8077810" y="1783080"/>
            <a:ext cx="3545129" cy="3794760"/>
          </a:xfrm>
          <a:prstGeom prst="roundRect">
            <a:avLst>
              <a:gd name="adj" fmla="val 2063"/>
            </a:avLst>
          </a:prstGeom>
          <a:solidFill>
            <a:srgbClr val="F7F8FC"/>
          </a:solidFill>
          <a:ln/>
        </p:spPr>
        <p:txBody>
          <a:bodyPr/>
          <a:lstStyle/>
          <a:p>
            <a:endParaRPr lang="en-US"/>
          </a:p>
        </p:txBody>
      </p:sp>
      <p:sp>
        <p:nvSpPr>
          <p:cNvPr id="28" name="Shape 22"/>
          <p:cNvSpPr/>
          <p:nvPr/>
        </p:nvSpPr>
        <p:spPr>
          <a:xfrm>
            <a:off x="8260690" y="1920240"/>
            <a:ext cx="548640" cy="548640"/>
          </a:xfrm>
          <a:prstGeom prst="ellipse">
            <a:avLst/>
          </a:prstGeom>
          <a:solidFill>
            <a:srgbClr val="1E2761"/>
          </a:solidFill>
          <a:ln/>
        </p:spPr>
        <p:txBody>
          <a:bodyPr/>
          <a:lstStyle/>
          <a:p>
            <a:endParaRPr lang="en-US"/>
          </a:p>
        </p:txBody>
      </p:sp>
      <p:pic>
        <p:nvPicPr>
          <p:cNvPr id="29" name="Image 4" descr="icon_trophy_w.png"/>
          <p:cNvPicPr>
            <a:picLocks noChangeAspect="1"/>
          </p:cNvPicPr>
          <p:nvPr/>
        </p:nvPicPr>
        <p:blipFill>
          <a:blip r:embed="rId7"/>
          <a:stretch>
            <a:fillRect/>
          </a:stretch>
        </p:blipFill>
        <p:spPr>
          <a:xfrm>
            <a:off x="8392363" y="2051914"/>
            <a:ext cx="285293" cy="285293"/>
          </a:xfrm>
          <a:prstGeom prst="rect">
            <a:avLst/>
          </a:prstGeom>
        </p:spPr>
      </p:pic>
      <p:sp>
        <p:nvSpPr>
          <p:cNvPr id="30" name="Text 23"/>
          <p:cNvSpPr txBox="1"/>
          <p:nvPr/>
        </p:nvSpPr>
        <p:spPr>
          <a:xfrm>
            <a:off x="8900770" y="1947672"/>
            <a:ext cx="2539289" cy="219456"/>
          </a:xfrm>
          <a:prstGeom prst="rect">
            <a:avLst/>
          </a:prstGeom>
          <a:noFill/>
          <a:ln/>
        </p:spPr>
        <p:txBody>
          <a:bodyPr wrap="square" lIns="0" tIns="0" rIns="0" bIns="0" rtlCol="0" anchor="ctr"/>
          <a:lstStyle/>
          <a:p>
            <a:pPr marL="0" indent="0">
              <a:buNone/>
            </a:pPr>
            <a:r>
              <a:rPr lang="en-US" sz="950" b="1" kern="0" spc="150" dirty="0">
                <a:solidFill>
                  <a:srgbClr val="C97F0E"/>
                </a:solidFill>
                <a:latin typeface="Calibri" pitchFamily="34" charset="0"/>
                <a:ea typeface="Calibri" pitchFamily="34" charset="-122"/>
                <a:cs typeface="Calibri" pitchFamily="34" charset="-120"/>
              </a:rPr>
              <a:t>MARKET</a:t>
            </a:r>
            <a:endParaRPr lang="en-US" sz="950" dirty="0"/>
          </a:p>
        </p:txBody>
      </p:sp>
      <p:sp>
        <p:nvSpPr>
          <p:cNvPr id="31" name="Text 24"/>
          <p:cNvSpPr txBox="1"/>
          <p:nvPr/>
        </p:nvSpPr>
        <p:spPr>
          <a:xfrm>
            <a:off x="8900770" y="2167128"/>
            <a:ext cx="2539289" cy="457200"/>
          </a:xfrm>
          <a:prstGeom prst="rect">
            <a:avLst/>
          </a:prstGeom>
          <a:noFill/>
          <a:ln/>
        </p:spPr>
        <p:txBody>
          <a:bodyPr wrap="square" lIns="0" tIns="0" rIns="0" bIns="0" rtlCol="0" anchor="ctr"/>
          <a:lstStyle/>
          <a:p>
            <a:pPr marL="0" indent="0">
              <a:lnSpc>
                <a:spcPct val="105000"/>
              </a:lnSpc>
              <a:buNone/>
            </a:pPr>
            <a:r>
              <a:rPr lang="en-US" sz="1350" b="1" dirty="0">
                <a:solidFill>
                  <a:srgbClr val="1E2761"/>
                </a:solidFill>
                <a:latin typeface="Cambria" pitchFamily="34" charset="0"/>
                <a:ea typeface="Cambria" pitchFamily="34" charset="-122"/>
                <a:cs typeface="Cambria" pitchFamily="34" charset="-120"/>
              </a:rPr>
              <a:t>One Operator Dominates The Field</a:t>
            </a:r>
            <a:endParaRPr lang="en-US" sz="1350" dirty="0"/>
          </a:p>
        </p:txBody>
      </p:sp>
      <p:sp>
        <p:nvSpPr>
          <p:cNvPr id="32" name="Shape 25"/>
          <p:cNvSpPr/>
          <p:nvPr/>
        </p:nvSpPr>
        <p:spPr>
          <a:xfrm>
            <a:off x="8278978" y="2697480"/>
            <a:ext cx="3142793" cy="1115568"/>
          </a:xfrm>
          <a:prstGeom prst="roundRect">
            <a:avLst>
              <a:gd name="adj" fmla="val 4098"/>
            </a:avLst>
          </a:prstGeom>
          <a:solidFill>
            <a:srgbClr val="FFFFFF"/>
          </a:solidFill>
          <a:ln w="12700">
            <a:solidFill>
              <a:srgbClr val="E3E7F1"/>
            </a:solidFill>
            <a:prstDash val="solid"/>
          </a:ln>
        </p:spPr>
        <p:txBody>
          <a:bodyPr/>
          <a:lstStyle/>
          <a:p>
            <a:endParaRPr lang="en-US"/>
          </a:p>
        </p:txBody>
      </p:sp>
      <p:pic>
        <p:nvPicPr>
          <p:cNvPr id="33" name="Image 5" descr="crop_trips_company.jpg"/>
          <p:cNvPicPr>
            <a:picLocks noChangeAspect="1"/>
          </p:cNvPicPr>
          <p:nvPr/>
        </p:nvPicPr>
        <p:blipFill>
          <a:blip r:embed="rId8"/>
          <a:srcRect/>
          <a:stretch/>
        </p:blipFill>
        <p:spPr>
          <a:xfrm>
            <a:off x="8324698" y="2743200"/>
            <a:ext cx="3051353" cy="1024128"/>
          </a:xfrm>
          <a:prstGeom prst="rect">
            <a:avLst/>
          </a:prstGeom>
        </p:spPr>
      </p:pic>
      <p:sp>
        <p:nvSpPr>
          <p:cNvPr id="34" name="Text 26"/>
          <p:cNvSpPr txBox="1"/>
          <p:nvPr/>
        </p:nvSpPr>
        <p:spPr>
          <a:xfrm>
            <a:off x="8278978" y="3922776"/>
            <a:ext cx="3142793" cy="868680"/>
          </a:xfrm>
          <a:prstGeom prst="rect">
            <a:avLst/>
          </a:prstGeom>
          <a:noFill/>
          <a:ln/>
        </p:spPr>
        <p:txBody>
          <a:bodyPr wrap="square" lIns="0" tIns="0" rIns="0" bIns="0" rtlCol="0" anchor="ctr"/>
          <a:lstStyle/>
          <a:p>
            <a:pPr marL="0" indent="0">
              <a:lnSpc>
                <a:spcPct val="120000"/>
              </a:lnSpc>
              <a:buNone/>
            </a:pPr>
            <a:r>
              <a:rPr lang="en-US" sz="1030" dirty="0">
                <a:solidFill>
                  <a:srgbClr val="20233A"/>
                </a:solidFill>
                <a:latin typeface="Calibri" pitchFamily="34" charset="0"/>
                <a:ea typeface="Calibri" pitchFamily="34" charset="-122"/>
                <a:cs typeface="Calibri" pitchFamily="34" charset="-120"/>
              </a:rPr>
              <a:t>Flash Cab leads with ~59K trips and 22.16% market share — nearly double its closest competitor.</a:t>
            </a:r>
            <a:endParaRPr lang="en-US" sz="1030" dirty="0"/>
          </a:p>
        </p:txBody>
      </p:sp>
      <p:sp>
        <p:nvSpPr>
          <p:cNvPr id="35" name="Shape 27"/>
          <p:cNvSpPr/>
          <p:nvPr/>
        </p:nvSpPr>
        <p:spPr>
          <a:xfrm>
            <a:off x="8278978" y="4736592"/>
            <a:ext cx="3142793" cy="713232"/>
          </a:xfrm>
          <a:prstGeom prst="roundRect">
            <a:avLst>
              <a:gd name="adj" fmla="val 7692"/>
            </a:avLst>
          </a:prstGeom>
          <a:solidFill>
            <a:srgbClr val="1E2761"/>
          </a:solidFill>
          <a:ln/>
        </p:spPr>
        <p:txBody>
          <a:bodyPr/>
          <a:lstStyle/>
          <a:p>
            <a:endParaRPr lang="en-US"/>
          </a:p>
        </p:txBody>
      </p:sp>
      <p:sp>
        <p:nvSpPr>
          <p:cNvPr id="36" name="Text 28"/>
          <p:cNvSpPr txBox="1"/>
          <p:nvPr/>
        </p:nvSpPr>
        <p:spPr>
          <a:xfrm>
            <a:off x="8425282" y="4800600"/>
            <a:ext cx="2850185" cy="182880"/>
          </a:xfrm>
          <a:prstGeom prst="rect">
            <a:avLst/>
          </a:prstGeom>
          <a:noFill/>
          <a:ln/>
        </p:spPr>
        <p:txBody>
          <a:bodyPr wrap="square" lIns="0" tIns="0" rIns="0" bIns="0" rtlCol="0" anchor="ctr"/>
          <a:lstStyle/>
          <a:p>
            <a:pPr marL="0" indent="0">
              <a:buNone/>
            </a:pPr>
            <a:r>
              <a:rPr lang="en-US" sz="800" b="1" kern="0" spc="120" dirty="0">
                <a:solidFill>
                  <a:srgbClr val="F5A623"/>
                </a:solidFill>
                <a:latin typeface="Calibri" pitchFamily="34" charset="0"/>
                <a:ea typeface="Calibri" pitchFamily="34" charset="-122"/>
                <a:cs typeface="Calibri" pitchFamily="34" charset="-120"/>
              </a:rPr>
              <a:t>RECOMMENDATION</a:t>
            </a:r>
            <a:endParaRPr lang="en-US" sz="800" dirty="0"/>
          </a:p>
        </p:txBody>
      </p:sp>
      <p:sp>
        <p:nvSpPr>
          <p:cNvPr id="37" name="Text 29"/>
          <p:cNvSpPr txBox="1"/>
          <p:nvPr/>
        </p:nvSpPr>
        <p:spPr>
          <a:xfrm>
            <a:off x="8425282" y="5001768"/>
            <a:ext cx="2850185" cy="502920"/>
          </a:xfrm>
          <a:prstGeom prst="rect">
            <a:avLst/>
          </a:prstGeom>
          <a:noFill/>
          <a:ln/>
        </p:spPr>
        <p:txBody>
          <a:bodyPr wrap="square" lIns="0" tIns="0" rIns="0" bIns="0" rtlCol="0" anchor="ctr"/>
          <a:lstStyle/>
          <a:p>
            <a:pPr marL="0" indent="0">
              <a:lnSpc>
                <a:spcPct val="112000"/>
              </a:lnSpc>
              <a:buNone/>
            </a:pPr>
            <a:r>
              <a:rPr lang="en-US" sz="970" dirty="0">
                <a:solidFill>
                  <a:srgbClr val="FFFFFF"/>
                </a:solidFill>
                <a:latin typeface="Calibri" pitchFamily="34" charset="0"/>
                <a:ea typeface="Calibri" pitchFamily="34" charset="-122"/>
                <a:cs typeface="Calibri" pitchFamily="34" charset="-120"/>
              </a:rPr>
              <a:t>Use Flash Cab’s operating metrics as the fleet-performance benchmark for smaller operators.</a:t>
            </a:r>
            <a:endParaRPr lang="en-US" sz="970" dirty="0"/>
          </a:p>
        </p:txBody>
      </p:sp>
      <p:sp>
        <p:nvSpPr>
          <p:cNvPr id="38" name="Shape 30"/>
          <p:cNvSpPr/>
          <p:nvPr/>
        </p:nvSpPr>
        <p:spPr>
          <a:xfrm>
            <a:off x="548640" y="5650992"/>
            <a:ext cx="11091672" cy="457200"/>
          </a:xfrm>
          <a:prstGeom prst="roundRect">
            <a:avLst>
              <a:gd name="adj" fmla="val 10000"/>
            </a:avLst>
          </a:prstGeom>
          <a:solidFill>
            <a:srgbClr val="EEF2FC"/>
          </a:solidFill>
          <a:ln/>
        </p:spPr>
        <p:txBody>
          <a:bodyPr/>
          <a:lstStyle/>
          <a:p>
            <a:endParaRPr lang="en-US"/>
          </a:p>
        </p:txBody>
      </p:sp>
      <p:sp>
        <p:nvSpPr>
          <p:cNvPr id="39" name="Text 31"/>
          <p:cNvSpPr txBox="1"/>
          <p:nvPr/>
        </p:nvSpPr>
        <p:spPr>
          <a:xfrm>
            <a:off x="777240" y="5650992"/>
            <a:ext cx="10652760" cy="457200"/>
          </a:xfrm>
          <a:prstGeom prst="rect">
            <a:avLst/>
          </a:prstGeom>
          <a:noFill/>
          <a:ln/>
        </p:spPr>
        <p:txBody>
          <a:bodyPr wrap="square" lIns="0" tIns="0" rIns="0" bIns="0" rtlCol="0" anchor="ctr"/>
          <a:lstStyle/>
          <a:p>
            <a:pPr marL="0" indent="0">
              <a:buNone/>
            </a:pPr>
            <a:r>
              <a:rPr lang="en-US" sz="1030" dirty="0">
                <a:solidFill>
                  <a:srgbClr val="1E2761"/>
                </a:solidFill>
                <a:latin typeface="Calibri" pitchFamily="34" charset="0"/>
                <a:ea typeface="Calibri" pitchFamily="34" charset="-122"/>
                <a:cs typeface="Calibri" pitchFamily="34" charset="-120"/>
              </a:rPr>
              <a:t>CUSTOMERS &amp; PAYMENTS  —  Credit card is the top payment method (~100K trips) with average card tips of 22.97%; cash tips are under-recorded, so treat cash-trip totals as a floor, not a ceiling.</a:t>
            </a:r>
            <a:endParaRPr lang="en-US" sz="1030" dirty="0"/>
          </a:p>
        </p:txBody>
      </p:sp>
      <p:sp>
        <p:nvSpPr>
          <p:cNvPr id="40" name="Shape 32"/>
          <p:cNvSpPr/>
          <p:nvPr/>
        </p:nvSpPr>
        <p:spPr>
          <a:xfrm>
            <a:off x="548640" y="6473952"/>
            <a:ext cx="11091672" cy="0"/>
          </a:xfrm>
          <a:prstGeom prst="line">
            <a:avLst/>
          </a:prstGeom>
          <a:noFill/>
          <a:ln w="9525">
            <a:solidFill>
              <a:srgbClr val="E3E7F1"/>
            </a:solidFill>
            <a:prstDash val="solid"/>
          </a:ln>
        </p:spPr>
        <p:txBody>
          <a:bodyPr/>
          <a:lstStyle/>
          <a:p>
            <a:endParaRPr lang="en-US"/>
          </a:p>
        </p:txBody>
      </p:sp>
      <p:sp>
        <p:nvSpPr>
          <p:cNvPr id="41" name="Text 33"/>
          <p:cNvSpPr txBox="1"/>
          <p:nvPr/>
        </p:nvSpPr>
        <p:spPr>
          <a:xfrm>
            <a:off x="548640" y="6510528"/>
            <a:ext cx="8686800" cy="274320"/>
          </a:xfrm>
          <a:prstGeom prst="rect">
            <a:avLst/>
          </a:prstGeom>
          <a:noFill/>
          <a:ln/>
        </p:spPr>
        <p:txBody>
          <a:bodyPr wrap="square" lIns="0" tIns="0" rIns="0" bIns="0" rtlCol="0" anchor="ctr"/>
          <a:lstStyle/>
          <a:p>
            <a:pPr marL="0" indent="0">
              <a:buNone/>
            </a:pPr>
            <a:r>
              <a:rPr lang="en-US" sz="850" dirty="0">
                <a:solidFill>
                  <a:srgbClr val="98A2B3"/>
                </a:solidFill>
                <a:latin typeface="Calibri" pitchFamily="34" charset="0"/>
                <a:ea typeface="Calibri" pitchFamily="34" charset="-122"/>
                <a:cs typeface="Calibri" pitchFamily="34" charset="-120"/>
              </a:rPr>
              <a:t>SOS ALPHA SQUAD 4  |  CHICAGO TAXI POWER BI PROJECT</a:t>
            </a:r>
            <a:endParaRPr lang="en-US" sz="850" dirty="0"/>
          </a:p>
        </p:txBody>
      </p:sp>
      <p:sp>
        <p:nvSpPr>
          <p:cNvPr id="42" name="Text 34"/>
          <p:cNvSpPr txBox="1"/>
          <p:nvPr/>
        </p:nvSpPr>
        <p:spPr>
          <a:xfrm>
            <a:off x="11183112" y="6492240"/>
            <a:ext cx="457200" cy="292608"/>
          </a:xfrm>
          <a:prstGeom prst="rect">
            <a:avLst/>
          </a:prstGeom>
          <a:noFill/>
          <a:ln/>
        </p:spPr>
        <p:txBody>
          <a:bodyPr wrap="square" lIns="0" tIns="0" rIns="0" bIns="0" rtlCol="0" anchor="ctr"/>
          <a:lstStyle/>
          <a:p>
            <a:pPr marL="0" indent="0" algn="r">
              <a:buNone/>
            </a:pPr>
            <a:r>
              <a:rPr lang="en-US" sz="1000" b="1" dirty="0">
                <a:solidFill>
                  <a:srgbClr val="1E2761"/>
                </a:solidFill>
                <a:latin typeface="Calibri" pitchFamily="34" charset="0"/>
                <a:ea typeface="Calibri" pitchFamily="34" charset="-122"/>
                <a:cs typeface="Calibri" pitchFamily="34" charset="-120"/>
              </a:rPr>
              <a:t>07</a:t>
            </a:r>
            <a:endParaRPr lang="en-US" sz="1000" dirty="0"/>
          </a:p>
        </p:txBody>
      </p:sp>
      <p:pic>
        <p:nvPicPr>
          <p:cNvPr id="44" name="Picture 43">
            <a:extLst>
              <a:ext uri="{FF2B5EF4-FFF2-40B4-BE49-F238E27FC236}">
                <a16:creationId xmlns:a16="http://schemas.microsoft.com/office/drawing/2014/main" id="{DCFD5356-21D4-BF0F-F585-D3A04034F156}"/>
              </a:ext>
            </a:extLst>
          </p:cNvPr>
          <p:cNvPicPr>
            <a:picLocks noChangeAspect="1"/>
          </p:cNvPicPr>
          <p:nvPr/>
        </p:nvPicPr>
        <p:blipFill>
          <a:blip r:embed="rId9"/>
          <a:srcRect l="650" t="-817"/>
          <a:stretch>
            <a:fillRect/>
          </a:stretch>
        </p:blipFill>
        <p:spPr>
          <a:xfrm>
            <a:off x="731520" y="2688336"/>
            <a:ext cx="3161081" cy="11292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292608"/>
          </a:xfrm>
          <a:prstGeom prst="rect">
            <a:avLst/>
          </a:prstGeom>
          <a:noFill/>
          <a:ln/>
        </p:spPr>
        <p:txBody>
          <a:bodyPr wrap="square" lIns="0" tIns="0" rIns="0" bIns="0" rtlCol="0" anchor="ctr"/>
          <a:lstStyle/>
          <a:p>
            <a:pPr marL="0" indent="0">
              <a:buNone/>
            </a:pPr>
            <a:r>
              <a:rPr lang="en-US" sz="1250" b="1" kern="0" spc="200" dirty="0">
                <a:solidFill>
                  <a:srgbClr val="C97F0E"/>
                </a:solidFill>
                <a:latin typeface="Calibri" pitchFamily="34" charset="0"/>
                <a:ea typeface="Calibri" pitchFamily="34" charset="-122"/>
                <a:cs typeface="Calibri" pitchFamily="34" charset="-120"/>
              </a:rPr>
              <a:t>07  PRESENTATION RECAP</a:t>
            </a:r>
            <a:endParaRPr lang="en-US" sz="1250" dirty="0"/>
          </a:p>
        </p:txBody>
      </p:sp>
      <p:sp>
        <p:nvSpPr>
          <p:cNvPr id="3" name="Text 1"/>
          <p:cNvSpPr txBox="1"/>
          <p:nvPr/>
        </p:nvSpPr>
        <p:spPr>
          <a:xfrm>
            <a:off x="548640" y="694944"/>
            <a:ext cx="10789920" cy="566928"/>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From Raw Records To Business Decisions</a:t>
            </a:r>
            <a:endParaRPr lang="en-US" sz="2900" dirty="0"/>
          </a:p>
        </p:txBody>
      </p:sp>
      <p:sp>
        <p:nvSpPr>
          <p:cNvPr id="4" name="Text 2"/>
          <p:cNvSpPr txBox="1"/>
          <p:nvPr/>
        </p:nvSpPr>
        <p:spPr>
          <a:xfrm>
            <a:off x="548640" y="1225296"/>
            <a:ext cx="10789920" cy="329184"/>
          </a:xfrm>
          <a:prstGeom prst="rect">
            <a:avLst/>
          </a:prstGeom>
          <a:noFill/>
          <a:ln/>
        </p:spPr>
        <p:txBody>
          <a:bodyPr wrap="square" lIns="0" tIns="0" rIns="0" bIns="0" rtlCol="0" anchor="ctr"/>
          <a:lstStyle/>
          <a:p>
            <a:pPr marL="0" indent="0">
              <a:buNone/>
            </a:pPr>
            <a:r>
              <a:rPr lang="en-US" sz="1350" i="1" dirty="0">
                <a:solidFill>
                  <a:srgbClr val="667085"/>
                </a:solidFill>
                <a:latin typeface="Calibri" pitchFamily="34" charset="0"/>
                <a:ea typeface="Calibri" pitchFamily="34" charset="-122"/>
                <a:cs typeface="Calibri" pitchFamily="34" charset="-120"/>
              </a:rPr>
              <a:t>How the four pieces of this project connect into one complete analysis</a:t>
            </a:r>
            <a:endParaRPr lang="en-US" sz="1350" dirty="0"/>
          </a:p>
        </p:txBody>
      </p:sp>
      <p:sp>
        <p:nvSpPr>
          <p:cNvPr id="5" name="Shape 3"/>
          <p:cNvSpPr/>
          <p:nvPr/>
        </p:nvSpPr>
        <p:spPr>
          <a:xfrm>
            <a:off x="548640" y="1874520"/>
            <a:ext cx="2624328" cy="3337560"/>
          </a:xfrm>
          <a:prstGeom prst="roundRect">
            <a:avLst>
              <a:gd name="adj" fmla="val 2787"/>
            </a:avLst>
          </a:prstGeom>
          <a:solidFill>
            <a:srgbClr val="F7F8FC"/>
          </a:solidFill>
          <a:ln/>
        </p:spPr>
        <p:txBody>
          <a:bodyPr/>
          <a:lstStyle/>
          <a:p>
            <a:endParaRPr lang="en-US"/>
          </a:p>
        </p:txBody>
      </p:sp>
      <p:sp>
        <p:nvSpPr>
          <p:cNvPr id="6" name="Text 4"/>
          <p:cNvSpPr txBox="1"/>
          <p:nvPr/>
        </p:nvSpPr>
        <p:spPr>
          <a:xfrm>
            <a:off x="777240" y="2057400"/>
            <a:ext cx="2167128" cy="457200"/>
          </a:xfrm>
          <a:prstGeom prst="rect">
            <a:avLst/>
          </a:prstGeom>
          <a:noFill/>
          <a:ln/>
        </p:spPr>
        <p:txBody>
          <a:bodyPr wrap="square" lIns="0" tIns="0" rIns="0" bIns="0" rtlCol="0" anchor="ctr"/>
          <a:lstStyle/>
          <a:p>
            <a:pPr marL="0" indent="0">
              <a:buNone/>
            </a:pPr>
            <a:r>
              <a:rPr lang="en-US" sz="2400" b="1" dirty="0">
                <a:solidFill>
                  <a:srgbClr val="CADCFC"/>
                </a:solidFill>
                <a:latin typeface="Cambria" pitchFamily="34" charset="0"/>
                <a:ea typeface="Cambria" pitchFamily="34" charset="-122"/>
                <a:cs typeface="Cambria" pitchFamily="34" charset="-120"/>
              </a:rPr>
              <a:t>01</a:t>
            </a:r>
            <a:endParaRPr lang="en-US" sz="2400" dirty="0"/>
          </a:p>
        </p:txBody>
      </p:sp>
      <p:sp>
        <p:nvSpPr>
          <p:cNvPr id="7" name="Shape 5"/>
          <p:cNvSpPr/>
          <p:nvPr/>
        </p:nvSpPr>
        <p:spPr>
          <a:xfrm>
            <a:off x="1563624" y="2628900"/>
            <a:ext cx="594360" cy="594360"/>
          </a:xfrm>
          <a:prstGeom prst="ellipse">
            <a:avLst/>
          </a:prstGeom>
          <a:solidFill>
            <a:srgbClr val="1E2761"/>
          </a:solidFill>
          <a:ln/>
        </p:spPr>
        <p:txBody>
          <a:bodyPr/>
          <a:lstStyle/>
          <a:p>
            <a:endParaRPr lang="en-US"/>
          </a:p>
        </p:txBody>
      </p:sp>
      <p:pic>
        <p:nvPicPr>
          <p:cNvPr id="8" name="Image 0" descr="icon_filter_w.png"/>
          <p:cNvPicPr>
            <a:picLocks noChangeAspect="1"/>
          </p:cNvPicPr>
          <p:nvPr/>
        </p:nvPicPr>
        <p:blipFill>
          <a:blip r:embed="rId3"/>
          <a:stretch>
            <a:fillRect/>
          </a:stretch>
        </p:blipFill>
        <p:spPr>
          <a:xfrm>
            <a:off x="1706270" y="2771546"/>
            <a:ext cx="309067" cy="309067"/>
          </a:xfrm>
          <a:prstGeom prst="rect">
            <a:avLst/>
          </a:prstGeom>
        </p:spPr>
      </p:pic>
      <p:sp>
        <p:nvSpPr>
          <p:cNvPr id="9" name="Text 6"/>
          <p:cNvSpPr txBox="1"/>
          <p:nvPr/>
        </p:nvSpPr>
        <p:spPr>
          <a:xfrm>
            <a:off x="749808" y="3383280"/>
            <a:ext cx="2221992" cy="457200"/>
          </a:xfrm>
          <a:prstGeom prst="rect">
            <a:avLst/>
          </a:prstGeom>
          <a:noFill/>
          <a:ln/>
        </p:spPr>
        <p:txBody>
          <a:bodyPr wrap="square" lIns="0" tIns="0" rIns="0" bIns="0" rtlCol="0" anchor="ctr"/>
          <a:lstStyle/>
          <a:p>
            <a:pPr marL="0" indent="0" algn="ctr">
              <a:lnSpc>
                <a:spcPct val="110000"/>
              </a:lnSpc>
              <a:buNone/>
            </a:pPr>
            <a:r>
              <a:rPr lang="en-US" sz="1150" b="1" kern="0" spc="50" dirty="0">
                <a:solidFill>
                  <a:srgbClr val="1E2761"/>
                </a:solidFill>
                <a:latin typeface="Calibri" pitchFamily="34" charset="0"/>
                <a:ea typeface="Calibri" pitchFamily="34" charset="-122"/>
                <a:cs typeface="Calibri" pitchFamily="34" charset="-120"/>
              </a:rPr>
              <a:t>DATA PREPARATION</a:t>
            </a:r>
            <a:endParaRPr lang="en-US" sz="1150" dirty="0"/>
          </a:p>
        </p:txBody>
      </p:sp>
      <p:sp>
        <p:nvSpPr>
          <p:cNvPr id="10" name="Text 7"/>
          <p:cNvSpPr txBox="1"/>
          <p:nvPr/>
        </p:nvSpPr>
        <p:spPr>
          <a:xfrm>
            <a:off x="768096" y="3867912"/>
            <a:ext cx="2185416" cy="1234440"/>
          </a:xfrm>
          <a:prstGeom prst="rect">
            <a:avLst/>
          </a:prstGeom>
          <a:noFill/>
          <a:ln/>
        </p:spPr>
        <p:txBody>
          <a:bodyPr wrap="square" lIns="0" tIns="0" rIns="0" bIns="0" rtlCol="0" anchor="ctr"/>
          <a:lstStyle/>
          <a:p>
            <a:pPr marL="0" indent="0" algn="ctr">
              <a:lnSpc>
                <a:spcPct val="122000"/>
              </a:lnSpc>
              <a:buNone/>
            </a:pPr>
            <a:r>
              <a:rPr lang="en-US" sz="1000" dirty="0">
                <a:solidFill>
                  <a:srgbClr val="667085"/>
                </a:solidFill>
                <a:latin typeface="Calibri" pitchFamily="34" charset="0"/>
                <a:ea typeface="Calibri" pitchFamily="34" charset="-122"/>
                <a:cs typeface="Calibri" pitchFamily="34" charset="-120"/>
              </a:rPr>
              <a:t>267,889 imported rows cleaned to 267,884 trusted trips; 5 non-trip errors removed and documented.</a:t>
            </a:r>
            <a:endParaRPr lang="en-US" sz="1000" dirty="0"/>
          </a:p>
        </p:txBody>
      </p:sp>
      <p:sp>
        <p:nvSpPr>
          <p:cNvPr id="11" name="Shape 8"/>
          <p:cNvSpPr/>
          <p:nvPr/>
        </p:nvSpPr>
        <p:spPr>
          <a:xfrm>
            <a:off x="3355848" y="1874520"/>
            <a:ext cx="2624328" cy="3337560"/>
          </a:xfrm>
          <a:prstGeom prst="roundRect">
            <a:avLst>
              <a:gd name="adj" fmla="val 2787"/>
            </a:avLst>
          </a:prstGeom>
          <a:solidFill>
            <a:srgbClr val="F7F8FC"/>
          </a:solidFill>
          <a:ln/>
        </p:spPr>
        <p:txBody>
          <a:bodyPr/>
          <a:lstStyle/>
          <a:p>
            <a:endParaRPr lang="en-US"/>
          </a:p>
        </p:txBody>
      </p:sp>
      <p:sp>
        <p:nvSpPr>
          <p:cNvPr id="12" name="Text 9"/>
          <p:cNvSpPr txBox="1"/>
          <p:nvPr/>
        </p:nvSpPr>
        <p:spPr>
          <a:xfrm>
            <a:off x="3584448" y="2057400"/>
            <a:ext cx="2167128" cy="457200"/>
          </a:xfrm>
          <a:prstGeom prst="rect">
            <a:avLst/>
          </a:prstGeom>
          <a:noFill/>
          <a:ln/>
        </p:spPr>
        <p:txBody>
          <a:bodyPr wrap="square" lIns="0" tIns="0" rIns="0" bIns="0" rtlCol="0" anchor="ctr"/>
          <a:lstStyle/>
          <a:p>
            <a:pPr marL="0" indent="0">
              <a:buNone/>
            </a:pPr>
            <a:r>
              <a:rPr lang="en-US" sz="2400" b="1" dirty="0">
                <a:solidFill>
                  <a:srgbClr val="CADCFC"/>
                </a:solidFill>
                <a:latin typeface="Cambria" pitchFamily="34" charset="0"/>
                <a:ea typeface="Cambria" pitchFamily="34" charset="-122"/>
                <a:cs typeface="Cambria" pitchFamily="34" charset="-120"/>
              </a:rPr>
              <a:t>02</a:t>
            </a:r>
            <a:endParaRPr lang="en-US" sz="2400" dirty="0"/>
          </a:p>
        </p:txBody>
      </p:sp>
      <p:sp>
        <p:nvSpPr>
          <p:cNvPr id="13" name="Shape 10"/>
          <p:cNvSpPr/>
          <p:nvPr/>
        </p:nvSpPr>
        <p:spPr>
          <a:xfrm>
            <a:off x="4370832" y="2628900"/>
            <a:ext cx="594360" cy="594360"/>
          </a:xfrm>
          <a:prstGeom prst="ellipse">
            <a:avLst/>
          </a:prstGeom>
          <a:solidFill>
            <a:srgbClr val="1E2761"/>
          </a:solidFill>
          <a:ln/>
        </p:spPr>
        <p:txBody>
          <a:bodyPr/>
          <a:lstStyle/>
          <a:p>
            <a:endParaRPr lang="en-US"/>
          </a:p>
        </p:txBody>
      </p:sp>
      <p:pic>
        <p:nvPicPr>
          <p:cNvPr id="14" name="Image 1" descr="icon_database_w.png"/>
          <p:cNvPicPr>
            <a:picLocks noChangeAspect="1"/>
          </p:cNvPicPr>
          <p:nvPr/>
        </p:nvPicPr>
        <p:blipFill>
          <a:blip r:embed="rId4"/>
          <a:stretch>
            <a:fillRect/>
          </a:stretch>
        </p:blipFill>
        <p:spPr>
          <a:xfrm>
            <a:off x="4513478" y="2771546"/>
            <a:ext cx="309067" cy="309067"/>
          </a:xfrm>
          <a:prstGeom prst="rect">
            <a:avLst/>
          </a:prstGeom>
        </p:spPr>
      </p:pic>
      <p:sp>
        <p:nvSpPr>
          <p:cNvPr id="15" name="Text 11"/>
          <p:cNvSpPr txBox="1"/>
          <p:nvPr/>
        </p:nvSpPr>
        <p:spPr>
          <a:xfrm>
            <a:off x="3557016" y="3383280"/>
            <a:ext cx="2221992" cy="457200"/>
          </a:xfrm>
          <a:prstGeom prst="rect">
            <a:avLst/>
          </a:prstGeom>
          <a:noFill/>
          <a:ln/>
        </p:spPr>
        <p:txBody>
          <a:bodyPr wrap="square" lIns="0" tIns="0" rIns="0" bIns="0" rtlCol="0" anchor="ctr"/>
          <a:lstStyle/>
          <a:p>
            <a:pPr marL="0" indent="0" algn="ctr">
              <a:lnSpc>
                <a:spcPct val="110000"/>
              </a:lnSpc>
              <a:buNone/>
            </a:pPr>
            <a:r>
              <a:rPr lang="en-US" sz="1150" b="1" kern="0" spc="50" dirty="0">
                <a:solidFill>
                  <a:srgbClr val="1E2761"/>
                </a:solidFill>
                <a:latin typeface="Calibri" pitchFamily="34" charset="0"/>
                <a:ea typeface="Calibri" pitchFamily="34" charset="-122"/>
                <a:cs typeface="Calibri" pitchFamily="34" charset="-120"/>
              </a:rPr>
              <a:t>DATA MODEL</a:t>
            </a:r>
            <a:endParaRPr lang="en-US" sz="1150" dirty="0"/>
          </a:p>
        </p:txBody>
      </p:sp>
      <p:sp>
        <p:nvSpPr>
          <p:cNvPr id="16" name="Text 12"/>
          <p:cNvSpPr txBox="1"/>
          <p:nvPr/>
        </p:nvSpPr>
        <p:spPr>
          <a:xfrm>
            <a:off x="3575304" y="3867912"/>
            <a:ext cx="2185416" cy="1234440"/>
          </a:xfrm>
          <a:prstGeom prst="rect">
            <a:avLst/>
          </a:prstGeom>
          <a:noFill/>
          <a:ln/>
        </p:spPr>
        <p:txBody>
          <a:bodyPr wrap="square" lIns="0" tIns="0" rIns="0" bIns="0" rtlCol="0" anchor="ctr"/>
          <a:lstStyle/>
          <a:p>
            <a:pPr marL="0" indent="0" algn="ctr">
              <a:lnSpc>
                <a:spcPct val="122000"/>
              </a:lnSpc>
              <a:buNone/>
            </a:pPr>
            <a:r>
              <a:rPr lang="en-US" sz="1000" dirty="0">
                <a:solidFill>
                  <a:srgbClr val="667085"/>
                </a:solidFill>
                <a:latin typeface="Calibri" pitchFamily="34" charset="0"/>
                <a:ea typeface="Calibri" pitchFamily="34" charset="-122"/>
                <a:cs typeface="Calibri" pitchFamily="34" charset="-120"/>
              </a:rPr>
              <a:t>A star schema — FactTaxiTrips plus Date, Time, Payment, Company and Community Area dimensions.</a:t>
            </a:r>
            <a:endParaRPr lang="en-US" sz="1000" dirty="0"/>
          </a:p>
        </p:txBody>
      </p:sp>
      <p:sp>
        <p:nvSpPr>
          <p:cNvPr id="17" name="Shape 13"/>
          <p:cNvSpPr/>
          <p:nvPr/>
        </p:nvSpPr>
        <p:spPr>
          <a:xfrm>
            <a:off x="6163056" y="1874520"/>
            <a:ext cx="2624328" cy="3337560"/>
          </a:xfrm>
          <a:prstGeom prst="roundRect">
            <a:avLst>
              <a:gd name="adj" fmla="val 2787"/>
            </a:avLst>
          </a:prstGeom>
          <a:solidFill>
            <a:srgbClr val="F7F8FC"/>
          </a:solidFill>
          <a:ln/>
        </p:spPr>
        <p:txBody>
          <a:bodyPr/>
          <a:lstStyle/>
          <a:p>
            <a:endParaRPr lang="en-US"/>
          </a:p>
        </p:txBody>
      </p:sp>
      <p:sp>
        <p:nvSpPr>
          <p:cNvPr id="18" name="Text 14"/>
          <p:cNvSpPr txBox="1"/>
          <p:nvPr/>
        </p:nvSpPr>
        <p:spPr>
          <a:xfrm>
            <a:off x="6391656" y="2057400"/>
            <a:ext cx="2167128" cy="457200"/>
          </a:xfrm>
          <a:prstGeom prst="rect">
            <a:avLst/>
          </a:prstGeom>
          <a:noFill/>
          <a:ln/>
        </p:spPr>
        <p:txBody>
          <a:bodyPr wrap="square" lIns="0" tIns="0" rIns="0" bIns="0" rtlCol="0" anchor="ctr"/>
          <a:lstStyle/>
          <a:p>
            <a:pPr marL="0" indent="0">
              <a:buNone/>
            </a:pPr>
            <a:r>
              <a:rPr lang="en-US" sz="2400" b="1" dirty="0">
                <a:solidFill>
                  <a:srgbClr val="CADCFC"/>
                </a:solidFill>
                <a:latin typeface="Cambria" pitchFamily="34" charset="0"/>
                <a:ea typeface="Cambria" pitchFamily="34" charset="-122"/>
                <a:cs typeface="Cambria" pitchFamily="34" charset="-120"/>
              </a:rPr>
              <a:t>03</a:t>
            </a:r>
            <a:endParaRPr lang="en-US" sz="2400" dirty="0"/>
          </a:p>
        </p:txBody>
      </p:sp>
      <p:sp>
        <p:nvSpPr>
          <p:cNvPr id="19" name="Shape 15"/>
          <p:cNvSpPr/>
          <p:nvPr/>
        </p:nvSpPr>
        <p:spPr>
          <a:xfrm>
            <a:off x="7178040" y="2628900"/>
            <a:ext cx="594360" cy="594360"/>
          </a:xfrm>
          <a:prstGeom prst="ellipse">
            <a:avLst/>
          </a:prstGeom>
          <a:solidFill>
            <a:srgbClr val="1E2761"/>
          </a:solidFill>
          <a:ln/>
        </p:spPr>
        <p:txBody>
          <a:bodyPr/>
          <a:lstStyle/>
          <a:p>
            <a:endParaRPr lang="en-US"/>
          </a:p>
        </p:txBody>
      </p:sp>
      <p:pic>
        <p:nvPicPr>
          <p:cNvPr id="20" name="Image 2" descr="icon_trending_w.png"/>
          <p:cNvPicPr>
            <a:picLocks noChangeAspect="1"/>
          </p:cNvPicPr>
          <p:nvPr/>
        </p:nvPicPr>
        <p:blipFill>
          <a:blip r:embed="rId5"/>
          <a:stretch>
            <a:fillRect/>
          </a:stretch>
        </p:blipFill>
        <p:spPr>
          <a:xfrm>
            <a:off x="7320686" y="2771546"/>
            <a:ext cx="309067" cy="309067"/>
          </a:xfrm>
          <a:prstGeom prst="rect">
            <a:avLst/>
          </a:prstGeom>
        </p:spPr>
      </p:pic>
      <p:sp>
        <p:nvSpPr>
          <p:cNvPr id="21" name="Text 16"/>
          <p:cNvSpPr txBox="1"/>
          <p:nvPr/>
        </p:nvSpPr>
        <p:spPr>
          <a:xfrm>
            <a:off x="6364224" y="3383280"/>
            <a:ext cx="2221992" cy="457200"/>
          </a:xfrm>
          <a:prstGeom prst="rect">
            <a:avLst/>
          </a:prstGeom>
          <a:noFill/>
          <a:ln/>
        </p:spPr>
        <p:txBody>
          <a:bodyPr wrap="square" lIns="0" tIns="0" rIns="0" bIns="0" rtlCol="0" anchor="ctr"/>
          <a:lstStyle/>
          <a:p>
            <a:pPr marL="0" indent="0" algn="ctr">
              <a:lnSpc>
                <a:spcPct val="110000"/>
              </a:lnSpc>
              <a:buNone/>
            </a:pPr>
            <a:r>
              <a:rPr lang="en-US" sz="1150" b="1" kern="0" spc="50" dirty="0">
                <a:solidFill>
                  <a:srgbClr val="1E2761"/>
                </a:solidFill>
                <a:latin typeface="Calibri" pitchFamily="34" charset="0"/>
                <a:ea typeface="Calibri" pitchFamily="34" charset="-122"/>
                <a:cs typeface="Calibri" pitchFamily="34" charset="-120"/>
              </a:rPr>
              <a:t>DASHBOARD ANALYSIS</a:t>
            </a:r>
            <a:endParaRPr lang="en-US" sz="1150" dirty="0"/>
          </a:p>
        </p:txBody>
      </p:sp>
      <p:sp>
        <p:nvSpPr>
          <p:cNvPr id="22" name="Text 17"/>
          <p:cNvSpPr txBox="1"/>
          <p:nvPr/>
        </p:nvSpPr>
        <p:spPr>
          <a:xfrm>
            <a:off x="6382512" y="3867912"/>
            <a:ext cx="2185416" cy="1234440"/>
          </a:xfrm>
          <a:prstGeom prst="rect">
            <a:avLst/>
          </a:prstGeom>
          <a:noFill/>
          <a:ln/>
        </p:spPr>
        <p:txBody>
          <a:bodyPr wrap="square" lIns="0" tIns="0" rIns="0" bIns="0" rtlCol="0" anchor="ctr"/>
          <a:lstStyle/>
          <a:p>
            <a:pPr marL="0" indent="0" algn="ctr">
              <a:lnSpc>
                <a:spcPct val="122000"/>
              </a:lnSpc>
              <a:buNone/>
            </a:pPr>
            <a:r>
              <a:rPr lang="en-US" sz="1000" dirty="0">
                <a:solidFill>
                  <a:srgbClr val="667085"/>
                </a:solidFill>
                <a:latin typeface="Calibri" pitchFamily="34" charset="0"/>
                <a:ea typeface="Calibri" pitchFamily="34" charset="-122"/>
                <a:cs typeface="Calibri" pitchFamily="34" charset="-120"/>
              </a:rPr>
              <a:t>Five linked Power BI pages answer six business questions on demand, geography, payments, and companies.</a:t>
            </a:r>
            <a:endParaRPr lang="en-US" sz="1000" dirty="0"/>
          </a:p>
        </p:txBody>
      </p:sp>
      <p:sp>
        <p:nvSpPr>
          <p:cNvPr id="23" name="Shape 18"/>
          <p:cNvSpPr/>
          <p:nvPr/>
        </p:nvSpPr>
        <p:spPr>
          <a:xfrm>
            <a:off x="8970264" y="1874520"/>
            <a:ext cx="2624328" cy="3337560"/>
          </a:xfrm>
          <a:prstGeom prst="roundRect">
            <a:avLst>
              <a:gd name="adj" fmla="val 2787"/>
            </a:avLst>
          </a:prstGeom>
          <a:solidFill>
            <a:srgbClr val="1E2761"/>
          </a:solidFill>
          <a:ln/>
        </p:spPr>
        <p:txBody>
          <a:bodyPr/>
          <a:lstStyle/>
          <a:p>
            <a:endParaRPr lang="en-US"/>
          </a:p>
        </p:txBody>
      </p:sp>
      <p:sp>
        <p:nvSpPr>
          <p:cNvPr id="24" name="Text 19"/>
          <p:cNvSpPr txBox="1"/>
          <p:nvPr/>
        </p:nvSpPr>
        <p:spPr>
          <a:xfrm>
            <a:off x="9198864" y="2057400"/>
            <a:ext cx="2167128" cy="457200"/>
          </a:xfrm>
          <a:prstGeom prst="rect">
            <a:avLst/>
          </a:prstGeom>
          <a:noFill/>
          <a:ln/>
        </p:spPr>
        <p:txBody>
          <a:bodyPr wrap="square" lIns="0" tIns="0" rIns="0" bIns="0" rtlCol="0" anchor="ctr"/>
          <a:lstStyle/>
          <a:p>
            <a:pPr marL="0" indent="0">
              <a:buNone/>
            </a:pPr>
            <a:r>
              <a:rPr lang="en-US" sz="2400" b="1" dirty="0">
                <a:solidFill>
                  <a:srgbClr val="F5A623"/>
                </a:solidFill>
                <a:latin typeface="Cambria" pitchFamily="34" charset="0"/>
                <a:ea typeface="Cambria" pitchFamily="34" charset="-122"/>
                <a:cs typeface="Cambria" pitchFamily="34" charset="-120"/>
              </a:rPr>
              <a:t>04</a:t>
            </a:r>
            <a:endParaRPr lang="en-US" sz="2400" dirty="0"/>
          </a:p>
        </p:txBody>
      </p:sp>
      <p:sp>
        <p:nvSpPr>
          <p:cNvPr id="25" name="Shape 20"/>
          <p:cNvSpPr/>
          <p:nvPr/>
        </p:nvSpPr>
        <p:spPr>
          <a:xfrm>
            <a:off x="9985248" y="2628900"/>
            <a:ext cx="594360" cy="594360"/>
          </a:xfrm>
          <a:prstGeom prst="ellipse">
            <a:avLst/>
          </a:prstGeom>
          <a:solidFill>
            <a:srgbClr val="C97F0E"/>
          </a:solidFill>
          <a:ln/>
        </p:spPr>
        <p:txBody>
          <a:bodyPr/>
          <a:lstStyle/>
          <a:p>
            <a:endParaRPr lang="en-US"/>
          </a:p>
        </p:txBody>
      </p:sp>
      <p:pic>
        <p:nvPicPr>
          <p:cNvPr id="26" name="Image 3" descr="icon_lightbulb_w.png"/>
          <p:cNvPicPr>
            <a:picLocks noChangeAspect="1"/>
          </p:cNvPicPr>
          <p:nvPr/>
        </p:nvPicPr>
        <p:blipFill>
          <a:blip r:embed="rId6"/>
          <a:stretch>
            <a:fillRect/>
          </a:stretch>
        </p:blipFill>
        <p:spPr>
          <a:xfrm>
            <a:off x="10127894" y="2771546"/>
            <a:ext cx="309067" cy="309067"/>
          </a:xfrm>
          <a:prstGeom prst="rect">
            <a:avLst/>
          </a:prstGeom>
        </p:spPr>
      </p:pic>
      <p:sp>
        <p:nvSpPr>
          <p:cNvPr id="27" name="Text 21"/>
          <p:cNvSpPr txBox="1"/>
          <p:nvPr/>
        </p:nvSpPr>
        <p:spPr>
          <a:xfrm>
            <a:off x="9171432" y="3383280"/>
            <a:ext cx="2221992" cy="457200"/>
          </a:xfrm>
          <a:prstGeom prst="rect">
            <a:avLst/>
          </a:prstGeom>
          <a:noFill/>
          <a:ln/>
        </p:spPr>
        <p:txBody>
          <a:bodyPr wrap="square" lIns="0" tIns="0" rIns="0" bIns="0" rtlCol="0" anchor="ctr"/>
          <a:lstStyle/>
          <a:p>
            <a:pPr marL="0" indent="0" algn="ctr">
              <a:lnSpc>
                <a:spcPct val="110000"/>
              </a:lnSpc>
              <a:buNone/>
            </a:pPr>
            <a:r>
              <a:rPr lang="en-US" sz="1150" b="1" kern="0" spc="50" dirty="0">
                <a:solidFill>
                  <a:srgbClr val="FFFFFF"/>
                </a:solidFill>
                <a:latin typeface="Calibri" pitchFamily="34" charset="0"/>
                <a:ea typeface="Calibri" pitchFamily="34" charset="-122"/>
                <a:cs typeface="Calibri" pitchFamily="34" charset="-120"/>
              </a:rPr>
              <a:t>FINDINGS &amp; ACTION</a:t>
            </a:r>
            <a:endParaRPr lang="en-US" sz="1150" dirty="0"/>
          </a:p>
        </p:txBody>
      </p:sp>
      <p:sp>
        <p:nvSpPr>
          <p:cNvPr id="28" name="Text 22"/>
          <p:cNvSpPr txBox="1"/>
          <p:nvPr/>
        </p:nvSpPr>
        <p:spPr>
          <a:xfrm>
            <a:off x="9189720" y="3867912"/>
            <a:ext cx="2185416" cy="1234440"/>
          </a:xfrm>
          <a:prstGeom prst="rect">
            <a:avLst/>
          </a:prstGeom>
          <a:noFill/>
          <a:ln/>
        </p:spPr>
        <p:txBody>
          <a:bodyPr wrap="square" lIns="0" tIns="0" rIns="0" bIns="0" rtlCol="0" anchor="ctr"/>
          <a:lstStyle/>
          <a:p>
            <a:pPr marL="0" indent="0" algn="ctr">
              <a:lnSpc>
                <a:spcPct val="122000"/>
              </a:lnSpc>
              <a:buNone/>
            </a:pPr>
            <a:r>
              <a:rPr lang="en-US" sz="1000" dirty="0">
                <a:solidFill>
                  <a:srgbClr val="CADCFC"/>
                </a:solidFill>
                <a:latin typeface="Calibri" pitchFamily="34" charset="0"/>
                <a:ea typeface="Calibri" pitchFamily="34" charset="-122"/>
                <a:cs typeface="Calibri" pitchFamily="34" charset="-120"/>
              </a:rPr>
              <a:t>Time, geography and market insights translate directly into staffing, staging, and benchmarking decisions.</a:t>
            </a:r>
            <a:endParaRPr lang="en-US" sz="1000" dirty="0"/>
          </a:p>
        </p:txBody>
      </p:sp>
      <p:sp>
        <p:nvSpPr>
          <p:cNvPr id="29" name="Shape 23"/>
          <p:cNvSpPr/>
          <p:nvPr/>
        </p:nvSpPr>
        <p:spPr>
          <a:xfrm>
            <a:off x="548640" y="5486400"/>
            <a:ext cx="11091672" cy="0"/>
          </a:xfrm>
          <a:prstGeom prst="line">
            <a:avLst/>
          </a:prstGeom>
          <a:noFill/>
          <a:ln w="12700">
            <a:solidFill>
              <a:srgbClr val="E3E7F1"/>
            </a:solidFill>
            <a:prstDash val="solid"/>
          </a:ln>
        </p:spPr>
        <p:txBody>
          <a:bodyPr/>
          <a:lstStyle/>
          <a:p>
            <a:endParaRPr lang="en-US"/>
          </a:p>
        </p:txBody>
      </p:sp>
      <p:sp>
        <p:nvSpPr>
          <p:cNvPr id="30" name="Text 24"/>
          <p:cNvSpPr txBox="1"/>
          <p:nvPr/>
        </p:nvSpPr>
        <p:spPr>
          <a:xfrm>
            <a:off x="548640" y="5623560"/>
            <a:ext cx="11091672" cy="502920"/>
          </a:xfrm>
          <a:prstGeom prst="rect">
            <a:avLst/>
          </a:prstGeom>
          <a:noFill/>
          <a:ln/>
        </p:spPr>
        <p:txBody>
          <a:bodyPr wrap="square" lIns="0" tIns="0" rIns="0" bIns="0" rtlCol="0" anchor="ctr"/>
          <a:lstStyle/>
          <a:p>
            <a:pPr marL="0" indent="0" algn="ctr">
              <a:lnSpc>
                <a:spcPct val="120000"/>
              </a:lnSpc>
              <a:buNone/>
            </a:pPr>
            <a:r>
              <a:rPr lang="en-US" sz="1200" i="1" dirty="0">
                <a:solidFill>
                  <a:srgbClr val="1E2761"/>
                </a:solidFill>
                <a:latin typeface="Calibri" pitchFamily="34" charset="0"/>
                <a:ea typeface="Calibri" pitchFamily="34" charset="-122"/>
                <a:cs typeface="Calibri" pitchFamily="34" charset="-120"/>
              </a:rPr>
              <a:t>We cleaned and validated the taxi records, modeled them for reliable comparisons, built dashboards that answer real business questions, and turned the results into concrete recommendations.</a:t>
            </a:r>
            <a:endParaRPr lang="en-US" sz="1200" dirty="0"/>
          </a:p>
        </p:txBody>
      </p:sp>
      <p:sp>
        <p:nvSpPr>
          <p:cNvPr id="31" name="Shape 25"/>
          <p:cNvSpPr/>
          <p:nvPr/>
        </p:nvSpPr>
        <p:spPr>
          <a:xfrm>
            <a:off x="548640" y="6473952"/>
            <a:ext cx="11091672" cy="0"/>
          </a:xfrm>
          <a:prstGeom prst="line">
            <a:avLst/>
          </a:prstGeom>
          <a:noFill/>
          <a:ln w="9525">
            <a:solidFill>
              <a:srgbClr val="E3E7F1"/>
            </a:solidFill>
            <a:prstDash val="solid"/>
          </a:ln>
        </p:spPr>
        <p:txBody>
          <a:bodyPr/>
          <a:lstStyle/>
          <a:p>
            <a:endParaRPr lang="en-US"/>
          </a:p>
        </p:txBody>
      </p:sp>
      <p:sp>
        <p:nvSpPr>
          <p:cNvPr id="32" name="Text 26"/>
          <p:cNvSpPr txBox="1"/>
          <p:nvPr/>
        </p:nvSpPr>
        <p:spPr>
          <a:xfrm>
            <a:off x="548640" y="6510528"/>
            <a:ext cx="8686800" cy="274320"/>
          </a:xfrm>
          <a:prstGeom prst="rect">
            <a:avLst/>
          </a:prstGeom>
          <a:noFill/>
          <a:ln/>
        </p:spPr>
        <p:txBody>
          <a:bodyPr wrap="square" lIns="0" tIns="0" rIns="0" bIns="0" rtlCol="0" anchor="ctr"/>
          <a:lstStyle/>
          <a:p>
            <a:pPr marL="0" indent="0">
              <a:buNone/>
            </a:pPr>
            <a:r>
              <a:rPr lang="en-US" sz="850" dirty="0">
                <a:solidFill>
                  <a:srgbClr val="98A2B3"/>
                </a:solidFill>
                <a:latin typeface="Calibri" pitchFamily="34" charset="0"/>
                <a:ea typeface="Calibri" pitchFamily="34" charset="-122"/>
                <a:cs typeface="Calibri" pitchFamily="34" charset="-120"/>
              </a:rPr>
              <a:t>SOS ALPHA SQUAD 4  |  CHICAGO TAXI POWER BI PROJECT</a:t>
            </a:r>
            <a:endParaRPr lang="en-US" sz="850" dirty="0"/>
          </a:p>
        </p:txBody>
      </p:sp>
      <p:sp>
        <p:nvSpPr>
          <p:cNvPr id="33" name="Text 27"/>
          <p:cNvSpPr txBox="1"/>
          <p:nvPr/>
        </p:nvSpPr>
        <p:spPr>
          <a:xfrm>
            <a:off x="11183112" y="6492240"/>
            <a:ext cx="457200" cy="292608"/>
          </a:xfrm>
          <a:prstGeom prst="rect">
            <a:avLst/>
          </a:prstGeom>
          <a:noFill/>
          <a:ln/>
        </p:spPr>
        <p:txBody>
          <a:bodyPr wrap="square" lIns="0" tIns="0" rIns="0" bIns="0" rtlCol="0" anchor="ctr"/>
          <a:lstStyle/>
          <a:p>
            <a:pPr marL="0" indent="0" algn="r">
              <a:buNone/>
            </a:pPr>
            <a:r>
              <a:rPr lang="en-US" sz="1000" b="1" dirty="0">
                <a:solidFill>
                  <a:srgbClr val="1E2761"/>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377440" y="-2377440"/>
            <a:ext cx="5669280" cy="5669280"/>
          </a:xfrm>
          <a:prstGeom prst="ellipse">
            <a:avLst/>
          </a:prstGeom>
          <a:solidFill>
            <a:srgbClr val="141A45"/>
          </a:solidFill>
          <a:ln/>
        </p:spPr>
        <p:txBody>
          <a:bodyPr/>
          <a:lstStyle/>
          <a:p>
            <a:endParaRPr lang="en-US"/>
          </a:p>
        </p:txBody>
      </p:sp>
      <p:sp>
        <p:nvSpPr>
          <p:cNvPr id="3" name="Shape 1"/>
          <p:cNvSpPr/>
          <p:nvPr/>
        </p:nvSpPr>
        <p:spPr>
          <a:xfrm>
            <a:off x="8961120" y="3108960"/>
            <a:ext cx="5943600" cy="5943600"/>
          </a:xfrm>
          <a:prstGeom prst="ellipse">
            <a:avLst/>
          </a:prstGeom>
          <a:solidFill>
            <a:srgbClr val="141A45"/>
          </a:solidFill>
          <a:ln/>
        </p:spPr>
        <p:txBody>
          <a:bodyPr/>
          <a:lstStyle/>
          <a:p>
            <a:endParaRPr lang="en-US"/>
          </a:p>
        </p:txBody>
      </p:sp>
      <p:sp>
        <p:nvSpPr>
          <p:cNvPr id="4" name="Shape 2"/>
          <p:cNvSpPr/>
          <p:nvPr/>
        </p:nvSpPr>
        <p:spPr>
          <a:xfrm>
            <a:off x="10058400" y="4206240"/>
            <a:ext cx="3657600" cy="3657600"/>
          </a:xfrm>
          <a:prstGeom prst="ellipse">
            <a:avLst/>
          </a:prstGeom>
          <a:solidFill>
            <a:srgbClr val="24316E"/>
          </a:solidFill>
          <a:ln/>
        </p:spPr>
        <p:txBody>
          <a:bodyPr/>
          <a:lstStyle/>
          <a:p>
            <a:endParaRPr lang="en-US"/>
          </a:p>
        </p:txBody>
      </p:sp>
      <p:sp>
        <p:nvSpPr>
          <p:cNvPr id="5" name="Shape 3"/>
          <p:cNvSpPr/>
          <p:nvPr/>
        </p:nvSpPr>
        <p:spPr>
          <a:xfrm>
            <a:off x="5504688" y="1554480"/>
            <a:ext cx="1188720" cy="1188720"/>
          </a:xfrm>
          <a:prstGeom prst="ellipse">
            <a:avLst/>
          </a:prstGeom>
          <a:solidFill>
            <a:srgbClr val="24316E"/>
          </a:solidFill>
          <a:ln/>
        </p:spPr>
        <p:txBody>
          <a:bodyPr/>
          <a:lstStyle/>
          <a:p>
            <a:endParaRPr lang="en-US"/>
          </a:p>
        </p:txBody>
      </p:sp>
      <p:pic>
        <p:nvPicPr>
          <p:cNvPr id="6" name="Image 0" descr="icon_car_w.png"/>
          <p:cNvPicPr>
            <a:picLocks noChangeAspect="1"/>
          </p:cNvPicPr>
          <p:nvPr/>
        </p:nvPicPr>
        <p:blipFill>
          <a:blip r:embed="rId3"/>
          <a:stretch>
            <a:fillRect/>
          </a:stretch>
        </p:blipFill>
        <p:spPr>
          <a:xfrm>
            <a:off x="5789981" y="1839773"/>
            <a:ext cx="618134" cy="618134"/>
          </a:xfrm>
          <a:prstGeom prst="rect">
            <a:avLst/>
          </a:prstGeom>
        </p:spPr>
      </p:pic>
      <p:sp>
        <p:nvSpPr>
          <p:cNvPr id="7" name="Text 4"/>
          <p:cNvSpPr txBox="1"/>
          <p:nvPr/>
        </p:nvSpPr>
        <p:spPr>
          <a:xfrm>
            <a:off x="1371600" y="2834640"/>
            <a:ext cx="9445752" cy="91440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9" name="Shape 6"/>
          <p:cNvSpPr/>
          <p:nvPr/>
        </p:nvSpPr>
        <p:spPr>
          <a:xfrm>
            <a:off x="5330952" y="4434840"/>
            <a:ext cx="1527048" cy="0"/>
          </a:xfrm>
          <a:prstGeom prst="line">
            <a:avLst/>
          </a:prstGeom>
          <a:noFill/>
          <a:ln w="28575">
            <a:solidFill>
              <a:srgbClr val="F5A623"/>
            </a:solidFill>
            <a:prstDash val="solid"/>
          </a:ln>
        </p:spPr>
        <p:txBody>
          <a:bodyPr/>
          <a:lstStyle/>
          <a:p>
            <a:endParaRPr lang="en-US"/>
          </a:p>
        </p:txBody>
      </p:sp>
      <p:sp>
        <p:nvSpPr>
          <p:cNvPr id="10" name="Text 7"/>
          <p:cNvSpPr txBox="1"/>
          <p:nvPr/>
        </p:nvSpPr>
        <p:spPr>
          <a:xfrm>
            <a:off x="1371600" y="6035040"/>
            <a:ext cx="9445752"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SOS ALPHA SQUAD 4</a:t>
            </a:r>
            <a:endParaRPr lang="en-US" sz="1250" dirty="0"/>
          </a:p>
        </p:txBody>
      </p:sp>
      <p:sp>
        <p:nvSpPr>
          <p:cNvPr id="11" name="Text 8"/>
          <p:cNvSpPr txBox="1"/>
          <p:nvPr/>
        </p:nvSpPr>
        <p:spPr>
          <a:xfrm>
            <a:off x="1371600" y="6327648"/>
            <a:ext cx="9445752" cy="274320"/>
          </a:xfrm>
          <a:prstGeom prst="rect">
            <a:avLst/>
          </a:prstGeom>
          <a:noFill/>
          <a:ln/>
        </p:spPr>
        <p:txBody>
          <a:bodyPr wrap="square" lIns="0" tIns="0" rIns="0" bIns="0" rtlCol="0" anchor="ctr"/>
          <a:lstStyle/>
          <a:p>
            <a:pPr marL="0" indent="0" algn="ctr">
              <a:buNone/>
            </a:pPr>
            <a:r>
              <a:rPr lang="en-US" sz="1000" kern="0" spc="200" dirty="0">
                <a:solidFill>
                  <a:srgbClr val="CADCFC"/>
                </a:solidFill>
                <a:latin typeface="Calibri" pitchFamily="34" charset="0"/>
                <a:ea typeface="Calibri" pitchFamily="34" charset="-122"/>
                <a:cs typeface="Calibri" pitchFamily="34" charset="-120"/>
              </a:rPr>
              <a:t>CHICAGO TAXI POWER BI PROJECT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1016</Words>
  <Application>Microsoft Office PowerPoint</Application>
  <PresentationFormat>Widescreen</PresentationFormat>
  <Paragraphs>140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Afanwi Precious Ajongwen</cp:lastModifiedBy>
  <cp:revision>2</cp:revision>
  <dcterms:created xsi:type="dcterms:W3CDTF">2026-09-01T22:23:05Z</dcterms:created>
  <dcterms:modified xsi:type="dcterms:W3CDTF">2026-09-02T00:44:22Z</dcterms:modified>
</cp:coreProperties>
</file>